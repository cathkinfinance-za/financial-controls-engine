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1" r:id="rId1"/>
    <p:sldMasterId id="2147483759" r:id="rId2"/>
  </p:sldMasterIdLst>
  <p:notesMasterIdLst>
    <p:notesMasterId r:id="rId11"/>
  </p:notesMasterIdLst>
  <p:sldIdLst>
    <p:sldId id="318" r:id="rId3"/>
    <p:sldId id="314" r:id="rId4"/>
    <p:sldId id="319" r:id="rId5"/>
    <p:sldId id="320" r:id="rId6"/>
    <p:sldId id="309" r:id="rId7"/>
    <p:sldId id="310" r:id="rId8"/>
    <p:sldId id="312" r:id="rId9"/>
    <p:sldId id="321" r:id="rId10"/>
  </p:sldIdLst>
  <p:sldSz cx="12192000" cy="6858000"/>
  <p:notesSz cx="7104063" cy="102346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a:srgbClr val="1CADE4"/>
    <a:srgbClr val="00B050"/>
    <a:srgbClr val="FFF9C4"/>
    <a:srgbClr val="CCCCCC"/>
    <a:srgbClr val="FFEB84"/>
    <a:srgbClr val="FFFFFF"/>
    <a:srgbClr val="C6C6C6"/>
    <a:srgbClr val="F9F9F9"/>
    <a:srgbClr val="F9897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2" d="100"/>
          <a:sy n="102" d="100"/>
        </p:scale>
        <p:origin x="834"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viewProps" Target="viewProp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presProps" Target="presProps.xml"/><Relationship Id="rId2" Type="http://schemas.openxmlformats.org/officeDocument/2006/relationships/slideMaster" Target="slideMasters/slideMaster2.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tableStyles" Target="tableStyles.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ita Haider" userId="146b18d905b935f6" providerId="LiveId" clId="{EA150AA0-568F-4BBA-932F-3D1D3D208052}"/>
    <pc:docChg chg="undo custSel addSld delSld modSld sldOrd modNotesMaster">
      <pc:chgData name="Anita Haider" userId="146b18d905b935f6" providerId="LiveId" clId="{EA150AA0-568F-4BBA-932F-3D1D3D208052}" dt="2026-09-03T07:30:25.470" v="1762" actId="1036"/>
      <pc:docMkLst>
        <pc:docMk/>
      </pc:docMkLst>
      <pc:sldChg chg="addSp delSp modSp mod">
        <pc:chgData name="Anita Haider" userId="146b18d905b935f6" providerId="LiveId" clId="{EA150AA0-568F-4BBA-932F-3D1D3D208052}" dt="2026-09-03T07:30:25.470" v="1762" actId="1036"/>
        <pc:sldMkLst>
          <pc:docMk/>
          <pc:sldMk cId="289431803" sldId="310"/>
        </pc:sldMkLst>
        <pc:spChg chg="mod">
          <ac:chgData name="Anita Haider" userId="146b18d905b935f6" providerId="LiveId" clId="{EA150AA0-568F-4BBA-932F-3D1D3D208052}" dt="2026-09-03T07:30:25.470" v="1762" actId="1036"/>
          <ac:spMkLst>
            <pc:docMk/>
            <pc:sldMk cId="289431803" sldId="310"/>
            <ac:spMk id="6" creationId="{19937F89-9CD2-FCC8-DB71-B59C3570EB1C}"/>
          </ac:spMkLst>
        </pc:spChg>
      </pc:sldChg>
    </pc:docChg>
  </pc:docChgLst>
</pc:chgInfo>
</file>

<file path=ppt/charts/_rels/chart1.xml.rels><?xml version="1.0" encoding="UTF-8" standalone="yes"?>
<Relationships xmlns="http://schemas.openxmlformats.org/package/2006/relationships"><Relationship Id="rId3" Type="http://schemas.openxmlformats.org/officeDocument/2006/relationships/oleObject" Target="NULL"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NULL" TargetMode="External"/><Relationship Id="rId2" Type="http://schemas.microsoft.com/office/2011/relationships/chartColorStyle" Target="colors2.xml"/><Relationship Id="rId1" Type="http://schemas.microsoft.com/office/2011/relationships/chartStyle" Target="style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8.8353585530924983E-2"/>
          <c:y val="3.7884767166535126E-2"/>
          <c:w val="0.82202537339014115"/>
          <c:h val="0.6881907164919302"/>
        </c:manualLayout>
      </c:layout>
      <c:barChart>
        <c:barDir val="col"/>
        <c:grouping val="clustered"/>
        <c:varyColors val="0"/>
        <c:ser>
          <c:idx val="2"/>
          <c:order val="0"/>
          <c:tx>
            <c:strRef>
              <c:f>'Annual Cost Estimate New'!$D$14</c:f>
              <c:strCache>
                <c:ptCount val="1"/>
                <c:pt idx="0">
                  <c:v>Expected (Annual)</c:v>
                </c:pt>
              </c:strCache>
            </c:strRef>
          </c:tx>
          <c:spPr>
            <a:solidFill>
              <a:schemeClr val="accent1"/>
            </a:solidFill>
            <a:ln>
              <a:noFill/>
            </a:ln>
            <a:effectLst/>
          </c:spPr>
          <c:invertIfNegative val="0"/>
          <c:cat>
            <c:multiLvlStrRef>
              <c:f>'Annual Cost Estimate New'!$I$15:$J$34</c:f>
              <c:multiLvlStrCache>
                <c:ptCount val="20"/>
                <c:lvl>
                  <c:pt idx="0">
                    <c:v>2016</c:v>
                  </c:pt>
                  <c:pt idx="1">
                    <c:v>2017</c:v>
                  </c:pt>
                  <c:pt idx="2">
                    <c:v>2018</c:v>
                  </c:pt>
                  <c:pt idx="3">
                    <c:v>2019</c:v>
                  </c:pt>
                  <c:pt idx="4">
                    <c:v>2020</c:v>
                  </c:pt>
                  <c:pt idx="5">
                    <c:v>2021</c:v>
                  </c:pt>
                  <c:pt idx="6">
                    <c:v>2022</c:v>
                  </c:pt>
                  <c:pt idx="7">
                    <c:v>2023</c:v>
                  </c:pt>
                  <c:pt idx="8">
                    <c:v>2024</c:v>
                  </c:pt>
                  <c:pt idx="9">
                    <c:v>2025</c:v>
                  </c:pt>
                  <c:pt idx="10">
                    <c:v>2026</c:v>
                  </c:pt>
                  <c:pt idx="11">
                    <c:v>2027</c:v>
                  </c:pt>
                  <c:pt idx="12">
                    <c:v>2028</c:v>
                  </c:pt>
                  <c:pt idx="13">
                    <c:v>2029</c:v>
                  </c:pt>
                  <c:pt idx="14">
                    <c:v>2030</c:v>
                  </c:pt>
                  <c:pt idx="15">
                    <c:v>2031</c:v>
                  </c:pt>
                  <c:pt idx="16">
                    <c:v>2032</c:v>
                  </c:pt>
                  <c:pt idx="17">
                    <c:v>2033</c:v>
                  </c:pt>
                  <c:pt idx="18">
                    <c:v>2034</c:v>
                  </c:pt>
                  <c:pt idx="19">
                    <c:v>2035</c:v>
                  </c:pt>
                </c:lvl>
                <c:lvl>
                  <c:pt idx="0">
                    <c:v>500
 hrs</c:v>
                  </c:pt>
                  <c:pt idx="1">
                    <c:v>1000
 hrs</c:v>
                  </c:pt>
                  <c:pt idx="2">
                    <c:v>1500
 hrs</c:v>
                  </c:pt>
                  <c:pt idx="3">
                    <c:v>2000
 hrs</c:v>
                  </c:pt>
                  <c:pt idx="4">
                    <c:v>2500
 hrs</c:v>
                  </c:pt>
                  <c:pt idx="5">
                    <c:v>3000
 hrs</c:v>
                  </c:pt>
                  <c:pt idx="6">
                    <c:v>3500
 hrs</c:v>
                  </c:pt>
                  <c:pt idx="7">
                    <c:v>4000
 hrs</c:v>
                  </c:pt>
                  <c:pt idx="8">
                    <c:v>4500
 hrs</c:v>
                  </c:pt>
                  <c:pt idx="9">
                    <c:v>5000
 hrs</c:v>
                  </c:pt>
                  <c:pt idx="10">
                    <c:v>5500
 hrs</c:v>
                  </c:pt>
                  <c:pt idx="11">
                    <c:v>6000
 hrs</c:v>
                  </c:pt>
                  <c:pt idx="12">
                    <c:v>6500
 hrs</c:v>
                  </c:pt>
                  <c:pt idx="13">
                    <c:v>7000
 hrs</c:v>
                  </c:pt>
                  <c:pt idx="14">
                    <c:v>7500
 hrs</c:v>
                  </c:pt>
                  <c:pt idx="15">
                    <c:v>8000
 hrs</c:v>
                  </c:pt>
                  <c:pt idx="16">
                    <c:v>8500
 hrs</c:v>
                  </c:pt>
                  <c:pt idx="17">
                    <c:v>9000
 hrs</c:v>
                  </c:pt>
                  <c:pt idx="18">
                    <c:v>9500
 hrs</c:v>
                  </c:pt>
                  <c:pt idx="19">
                    <c:v>10000
 hrs</c:v>
                  </c:pt>
                </c:lvl>
              </c:multiLvlStrCache>
            </c:multiLvlStrRef>
          </c:cat>
          <c:val>
            <c:numRef>
              <c:f>'Annual Cost Estimate New'!$D$15:$D$34</c:f>
              <c:numCache>
                <c:formatCode>_-* #,##0_-;\-* #,##0_-;_-* "-"??_-;_-@_-</c:formatCode>
                <c:ptCount val="20"/>
                <c:pt idx="0">
                  <c:v>525</c:v>
                </c:pt>
                <c:pt idx="1">
                  <c:v>1575</c:v>
                </c:pt>
                <c:pt idx="2">
                  <c:v>2625</c:v>
                </c:pt>
                <c:pt idx="3">
                  <c:v>3675</c:v>
                </c:pt>
                <c:pt idx="4">
                  <c:v>4725</c:v>
                </c:pt>
                <c:pt idx="5">
                  <c:v>5775</c:v>
                </c:pt>
                <c:pt idx="6">
                  <c:v>6825</c:v>
                </c:pt>
                <c:pt idx="7">
                  <c:v>7875</c:v>
                </c:pt>
                <c:pt idx="8">
                  <c:v>8925</c:v>
                </c:pt>
                <c:pt idx="9">
                  <c:v>9975</c:v>
                </c:pt>
                <c:pt idx="10">
                  <c:v>11025</c:v>
                </c:pt>
                <c:pt idx="11">
                  <c:v>12075</c:v>
                </c:pt>
                <c:pt idx="12">
                  <c:v>13125</c:v>
                </c:pt>
                <c:pt idx="13">
                  <c:v>14175</c:v>
                </c:pt>
                <c:pt idx="14">
                  <c:v>15225</c:v>
                </c:pt>
                <c:pt idx="15">
                  <c:v>16275</c:v>
                </c:pt>
                <c:pt idx="16">
                  <c:v>17325</c:v>
                </c:pt>
                <c:pt idx="17">
                  <c:v>18375</c:v>
                </c:pt>
                <c:pt idx="18">
                  <c:v>19425</c:v>
                </c:pt>
                <c:pt idx="19">
                  <c:v>20475</c:v>
                </c:pt>
              </c:numCache>
            </c:numRef>
          </c:val>
          <c:extLst>
            <c:ext xmlns:c16="http://schemas.microsoft.com/office/drawing/2014/chart" uri="{C3380CC4-5D6E-409C-BE32-E72D297353CC}">
              <c16:uniqueId val="{00000000-2C53-4295-BAEF-B5C6C670BE24}"/>
            </c:ext>
          </c:extLst>
        </c:ser>
        <c:ser>
          <c:idx val="3"/>
          <c:order val="2"/>
          <c:tx>
            <c:strRef>
              <c:f>'Annual Cost Estimate New'!$F$14</c:f>
              <c:strCache>
                <c:ptCount val="1"/>
                <c:pt idx="0">
                  <c:v>Actual</c:v>
                </c:pt>
              </c:strCache>
            </c:strRef>
          </c:tx>
          <c:spPr>
            <a:solidFill>
              <a:srgbClr val="FF0000"/>
            </a:solidFill>
            <a:ln>
              <a:solidFill>
                <a:srgbClr val="FF0000"/>
              </a:solid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multiLvlStrRef>
              <c:f>'Annual Cost Estimate New'!$I$15:$J$34</c:f>
              <c:multiLvlStrCache>
                <c:ptCount val="20"/>
                <c:lvl>
                  <c:pt idx="0">
                    <c:v>2016</c:v>
                  </c:pt>
                  <c:pt idx="1">
                    <c:v>2017</c:v>
                  </c:pt>
                  <c:pt idx="2">
                    <c:v>2018</c:v>
                  </c:pt>
                  <c:pt idx="3">
                    <c:v>2019</c:v>
                  </c:pt>
                  <c:pt idx="4">
                    <c:v>2020</c:v>
                  </c:pt>
                  <c:pt idx="5">
                    <c:v>2021</c:v>
                  </c:pt>
                  <c:pt idx="6">
                    <c:v>2022</c:v>
                  </c:pt>
                  <c:pt idx="7">
                    <c:v>2023</c:v>
                  </c:pt>
                  <c:pt idx="8">
                    <c:v>2024</c:v>
                  </c:pt>
                  <c:pt idx="9">
                    <c:v>2025</c:v>
                  </c:pt>
                  <c:pt idx="10">
                    <c:v>2026</c:v>
                  </c:pt>
                  <c:pt idx="11">
                    <c:v>2027</c:v>
                  </c:pt>
                  <c:pt idx="12">
                    <c:v>2028</c:v>
                  </c:pt>
                  <c:pt idx="13">
                    <c:v>2029</c:v>
                  </c:pt>
                  <c:pt idx="14">
                    <c:v>2030</c:v>
                  </c:pt>
                  <c:pt idx="15">
                    <c:v>2031</c:v>
                  </c:pt>
                  <c:pt idx="16">
                    <c:v>2032</c:v>
                  </c:pt>
                  <c:pt idx="17">
                    <c:v>2033</c:v>
                  </c:pt>
                  <c:pt idx="18">
                    <c:v>2034</c:v>
                  </c:pt>
                  <c:pt idx="19">
                    <c:v>2035</c:v>
                  </c:pt>
                </c:lvl>
                <c:lvl>
                  <c:pt idx="0">
                    <c:v>500
 hrs</c:v>
                  </c:pt>
                  <c:pt idx="1">
                    <c:v>1000
 hrs</c:v>
                  </c:pt>
                  <c:pt idx="2">
                    <c:v>1500
 hrs</c:v>
                  </c:pt>
                  <c:pt idx="3">
                    <c:v>2000
 hrs</c:v>
                  </c:pt>
                  <c:pt idx="4">
                    <c:v>2500
 hrs</c:v>
                  </c:pt>
                  <c:pt idx="5">
                    <c:v>3000
 hrs</c:v>
                  </c:pt>
                  <c:pt idx="6">
                    <c:v>3500
 hrs</c:v>
                  </c:pt>
                  <c:pt idx="7">
                    <c:v>4000
 hrs</c:v>
                  </c:pt>
                  <c:pt idx="8">
                    <c:v>4500
 hrs</c:v>
                  </c:pt>
                  <c:pt idx="9">
                    <c:v>5000
 hrs</c:v>
                  </c:pt>
                  <c:pt idx="10">
                    <c:v>5500
 hrs</c:v>
                  </c:pt>
                  <c:pt idx="11">
                    <c:v>6000
 hrs</c:v>
                  </c:pt>
                  <c:pt idx="12">
                    <c:v>6500
 hrs</c:v>
                  </c:pt>
                  <c:pt idx="13">
                    <c:v>7000
 hrs</c:v>
                  </c:pt>
                  <c:pt idx="14">
                    <c:v>7500
 hrs</c:v>
                  </c:pt>
                  <c:pt idx="15">
                    <c:v>8000
 hrs</c:v>
                  </c:pt>
                  <c:pt idx="16">
                    <c:v>8500
 hrs</c:v>
                  </c:pt>
                  <c:pt idx="17">
                    <c:v>9000
 hrs</c:v>
                  </c:pt>
                  <c:pt idx="18">
                    <c:v>9500
 hrs</c:v>
                  </c:pt>
                  <c:pt idx="19">
                    <c:v>10000
 hrs</c:v>
                  </c:pt>
                </c:lvl>
              </c:multiLvlStrCache>
            </c:multiLvlStrRef>
          </c:cat>
          <c:val>
            <c:numRef>
              <c:f>'Annual Cost Estimate New'!$G$15:$G$34</c:f>
              <c:numCache>
                <c:formatCode>General</c:formatCode>
                <c:ptCount val="20"/>
                <c:pt idx="5" formatCode="_-* #,##0_-;\-* #,##0_-;_-* &quot;-&quot;??_-;_-@_-">
                  <c:v>22316.609999999997</c:v>
                </c:pt>
                <c:pt idx="6" formatCode="_-* #,##0_-;\-* #,##0_-;_-* &quot;-&quot;??_-;_-@_-">
                  <c:v>18388.689999999999</c:v>
                </c:pt>
                <c:pt idx="7" formatCode="_-* #,##0_-;\-* #,##0_-;_-* &quot;-&quot;??_-;_-@_-">
                  <c:v>67096.97</c:v>
                </c:pt>
                <c:pt idx="8" formatCode="_-* #,##0_-;\-* #,##0_-;_-* &quot;-&quot;??_-;_-@_-">
                  <c:v>59542.93</c:v>
                </c:pt>
                <c:pt idx="9" formatCode="_-* #,##0_-;\-* #,##0_-;_-* &quot;-&quot;??_-;_-@_-">
                  <c:v>203147.93</c:v>
                </c:pt>
                <c:pt idx="10" formatCode="_-* #,##0_-;\-* #,##0_-;_-* &quot;-&quot;??_-;_-@_-">
                  <c:v>117424.37</c:v>
                </c:pt>
              </c:numCache>
            </c:numRef>
          </c:val>
          <c:extLst>
            <c:ext xmlns:c16="http://schemas.microsoft.com/office/drawing/2014/chart" uri="{C3380CC4-5D6E-409C-BE32-E72D297353CC}">
              <c16:uniqueId val="{00000001-2C53-4295-BAEF-B5C6C670BE24}"/>
            </c:ext>
          </c:extLst>
        </c:ser>
        <c:dLbls>
          <c:showLegendKey val="0"/>
          <c:showVal val="0"/>
          <c:showCatName val="0"/>
          <c:showSerName val="0"/>
          <c:showPercent val="0"/>
          <c:showBubbleSize val="0"/>
        </c:dLbls>
        <c:gapWidth val="150"/>
        <c:axId val="985466112"/>
        <c:axId val="985465752"/>
      </c:barChart>
      <c:lineChart>
        <c:grouping val="standard"/>
        <c:varyColors val="0"/>
        <c:ser>
          <c:idx val="4"/>
          <c:order val="1"/>
          <c:tx>
            <c:v>Expected,Cummulative</c:v>
          </c:tx>
          <c:spPr>
            <a:ln w="28575" cap="rnd">
              <a:solidFill>
                <a:schemeClr val="accent1"/>
              </a:solidFill>
              <a:prstDash val="dash"/>
              <a:round/>
            </a:ln>
            <a:effectLst/>
          </c:spPr>
          <c:marker>
            <c:symbol val="none"/>
          </c:marker>
          <c:cat>
            <c:numRef>
              <c:f>'Annual Cost Estimate New'!$J$15:$J$34</c:f>
              <c:numCache>
                <c:formatCode>General</c:formatCode>
                <c:ptCount val="20"/>
                <c:pt idx="0">
                  <c:v>2016</c:v>
                </c:pt>
                <c:pt idx="1">
                  <c:v>2017</c:v>
                </c:pt>
                <c:pt idx="2">
                  <c:v>2018</c:v>
                </c:pt>
                <c:pt idx="3">
                  <c:v>2019</c:v>
                </c:pt>
                <c:pt idx="4">
                  <c:v>2020</c:v>
                </c:pt>
                <c:pt idx="5">
                  <c:v>2021</c:v>
                </c:pt>
                <c:pt idx="6">
                  <c:v>2022</c:v>
                </c:pt>
                <c:pt idx="7">
                  <c:v>2023</c:v>
                </c:pt>
                <c:pt idx="8">
                  <c:v>2024</c:v>
                </c:pt>
                <c:pt idx="9">
                  <c:v>2025</c:v>
                </c:pt>
                <c:pt idx="10">
                  <c:v>2026</c:v>
                </c:pt>
                <c:pt idx="11">
                  <c:v>2027</c:v>
                </c:pt>
                <c:pt idx="12">
                  <c:v>2028</c:v>
                </c:pt>
                <c:pt idx="13">
                  <c:v>2029</c:v>
                </c:pt>
                <c:pt idx="14">
                  <c:v>2030</c:v>
                </c:pt>
                <c:pt idx="15">
                  <c:v>2031</c:v>
                </c:pt>
                <c:pt idx="16">
                  <c:v>2032</c:v>
                </c:pt>
                <c:pt idx="17">
                  <c:v>2033</c:v>
                </c:pt>
                <c:pt idx="18">
                  <c:v>2034</c:v>
                </c:pt>
                <c:pt idx="19">
                  <c:v>2035</c:v>
                </c:pt>
              </c:numCache>
            </c:numRef>
          </c:cat>
          <c:val>
            <c:numRef>
              <c:f>'Annual Cost Estimate New'!$C$15:$C$34</c:f>
              <c:numCache>
                <c:formatCode>_-* #,##0_-;\-* #,##0_-;_-* "-"??_-;_-@_-</c:formatCode>
                <c:ptCount val="20"/>
                <c:pt idx="0">
                  <c:v>525</c:v>
                </c:pt>
                <c:pt idx="1">
                  <c:v>2100</c:v>
                </c:pt>
                <c:pt idx="2">
                  <c:v>4725</c:v>
                </c:pt>
                <c:pt idx="3">
                  <c:v>8400</c:v>
                </c:pt>
                <c:pt idx="4">
                  <c:v>13125</c:v>
                </c:pt>
                <c:pt idx="5">
                  <c:v>18900</c:v>
                </c:pt>
                <c:pt idx="6">
                  <c:v>25725</c:v>
                </c:pt>
                <c:pt idx="7">
                  <c:v>33600</c:v>
                </c:pt>
                <c:pt idx="8">
                  <c:v>42525</c:v>
                </c:pt>
                <c:pt idx="9">
                  <c:v>52500</c:v>
                </c:pt>
                <c:pt idx="10">
                  <c:v>63525</c:v>
                </c:pt>
                <c:pt idx="11">
                  <c:v>75600</c:v>
                </c:pt>
                <c:pt idx="12">
                  <c:v>88725</c:v>
                </c:pt>
                <c:pt idx="13">
                  <c:v>102900</c:v>
                </c:pt>
                <c:pt idx="14">
                  <c:v>118125</c:v>
                </c:pt>
                <c:pt idx="15">
                  <c:v>134400</c:v>
                </c:pt>
                <c:pt idx="16">
                  <c:v>151725</c:v>
                </c:pt>
                <c:pt idx="17">
                  <c:v>170100</c:v>
                </c:pt>
                <c:pt idx="18">
                  <c:v>189525</c:v>
                </c:pt>
                <c:pt idx="19">
                  <c:v>210000</c:v>
                </c:pt>
              </c:numCache>
            </c:numRef>
          </c:val>
          <c:smooth val="0"/>
          <c:extLst>
            <c:ext xmlns:c16="http://schemas.microsoft.com/office/drawing/2014/chart" uri="{C3380CC4-5D6E-409C-BE32-E72D297353CC}">
              <c16:uniqueId val="{00000002-2C53-4295-BAEF-B5C6C670BE24}"/>
            </c:ext>
          </c:extLst>
        </c:ser>
        <c:ser>
          <c:idx val="0"/>
          <c:order val="3"/>
          <c:tx>
            <c:strRef>
              <c:f>'Annual Cost Estimate New'!$H$14</c:f>
              <c:strCache>
                <c:ptCount val="1"/>
                <c:pt idx="0">
                  <c:v>Actual, Cummulative</c:v>
                </c:pt>
              </c:strCache>
            </c:strRef>
          </c:tx>
          <c:spPr>
            <a:ln w="28575" cap="rnd">
              <a:solidFill>
                <a:srgbClr val="FF0000"/>
              </a:solidFill>
              <a:prstDash val="dash"/>
              <a:round/>
            </a:ln>
            <a:effectLst/>
          </c:spPr>
          <c:marker>
            <c:symbol val="none"/>
          </c:marker>
          <c:cat>
            <c:numRef>
              <c:f>'Annual Cost Estimate New'!$J$15:$J$34</c:f>
              <c:numCache>
                <c:formatCode>General</c:formatCode>
                <c:ptCount val="20"/>
                <c:pt idx="0">
                  <c:v>2016</c:v>
                </c:pt>
                <c:pt idx="1">
                  <c:v>2017</c:v>
                </c:pt>
                <c:pt idx="2">
                  <c:v>2018</c:v>
                </c:pt>
                <c:pt idx="3">
                  <c:v>2019</c:v>
                </c:pt>
                <c:pt idx="4">
                  <c:v>2020</c:v>
                </c:pt>
                <c:pt idx="5">
                  <c:v>2021</c:v>
                </c:pt>
                <c:pt idx="6">
                  <c:v>2022</c:v>
                </c:pt>
                <c:pt idx="7">
                  <c:v>2023</c:v>
                </c:pt>
                <c:pt idx="8">
                  <c:v>2024</c:v>
                </c:pt>
                <c:pt idx="9">
                  <c:v>2025</c:v>
                </c:pt>
                <c:pt idx="10">
                  <c:v>2026</c:v>
                </c:pt>
                <c:pt idx="11">
                  <c:v>2027</c:v>
                </c:pt>
                <c:pt idx="12">
                  <c:v>2028</c:v>
                </c:pt>
                <c:pt idx="13">
                  <c:v>2029</c:v>
                </c:pt>
                <c:pt idx="14">
                  <c:v>2030</c:v>
                </c:pt>
                <c:pt idx="15">
                  <c:v>2031</c:v>
                </c:pt>
                <c:pt idx="16">
                  <c:v>2032</c:v>
                </c:pt>
                <c:pt idx="17">
                  <c:v>2033</c:v>
                </c:pt>
                <c:pt idx="18">
                  <c:v>2034</c:v>
                </c:pt>
                <c:pt idx="19">
                  <c:v>2035</c:v>
                </c:pt>
              </c:numCache>
            </c:numRef>
          </c:cat>
          <c:val>
            <c:numRef>
              <c:f>'Annual Cost Estimate New'!$H$15:$H$34</c:f>
              <c:numCache>
                <c:formatCode>_-* #,##0_-;\-* #,##0_-;_-* "-"??_-;_-@_-</c:formatCode>
                <c:ptCount val="20"/>
                <c:pt idx="0">
                  <c:v>525</c:v>
                </c:pt>
                <c:pt idx="1">
                  <c:v>2100</c:v>
                </c:pt>
                <c:pt idx="2">
                  <c:v>4725</c:v>
                </c:pt>
                <c:pt idx="3">
                  <c:v>8400</c:v>
                </c:pt>
                <c:pt idx="4">
                  <c:v>13125</c:v>
                </c:pt>
                <c:pt idx="5">
                  <c:v>35441.61</c:v>
                </c:pt>
                <c:pt idx="6">
                  <c:v>53830.3</c:v>
                </c:pt>
                <c:pt idx="7">
                  <c:v>120927.27</c:v>
                </c:pt>
                <c:pt idx="8">
                  <c:v>180470.2</c:v>
                </c:pt>
                <c:pt idx="9">
                  <c:v>383618.13</c:v>
                </c:pt>
                <c:pt idx="10">
                  <c:v>501042.5</c:v>
                </c:pt>
              </c:numCache>
            </c:numRef>
          </c:val>
          <c:smooth val="0"/>
          <c:extLst>
            <c:ext xmlns:c16="http://schemas.microsoft.com/office/drawing/2014/chart" uri="{C3380CC4-5D6E-409C-BE32-E72D297353CC}">
              <c16:uniqueId val="{00000003-2C53-4295-BAEF-B5C6C670BE24}"/>
            </c:ext>
          </c:extLst>
        </c:ser>
        <c:dLbls>
          <c:showLegendKey val="0"/>
          <c:showVal val="0"/>
          <c:showCatName val="0"/>
          <c:showSerName val="0"/>
          <c:showPercent val="0"/>
          <c:showBubbleSize val="0"/>
        </c:dLbls>
        <c:marker val="1"/>
        <c:smooth val="0"/>
        <c:axId val="983615240"/>
        <c:axId val="983602640"/>
      </c:lineChart>
      <c:catAx>
        <c:axId val="985466112"/>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GB"/>
                  <a:t>Year of Service</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985465752"/>
        <c:crosses val="autoZero"/>
        <c:auto val="1"/>
        <c:lblAlgn val="ctr"/>
        <c:lblOffset val="100"/>
        <c:noMultiLvlLbl val="0"/>
      </c:catAx>
      <c:valAx>
        <c:axId val="985465752"/>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GB"/>
                  <a:t>Annual</a:t>
                </a:r>
                <a:r>
                  <a:rPr lang="en-GB" baseline="0"/>
                  <a:t> Spend, ZAR</a:t>
                </a:r>
                <a:endParaRPr lang="en-GB"/>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GB"/>
            </a:p>
          </c:txPr>
        </c:title>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985466112"/>
        <c:crosses val="autoZero"/>
        <c:crossBetween val="between"/>
      </c:valAx>
      <c:valAx>
        <c:axId val="983602640"/>
        <c:scaling>
          <c:orientation val="minMax"/>
        </c:scaling>
        <c:delete val="0"/>
        <c:axPos val="r"/>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GB"/>
                  <a:t>Cummulative Spend, ZAR</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_-* #,##0_-;\-* #,##0_-;_-* &quot;-&quot;??_-;_-@_-" sourceLinked="1"/>
        <c:majorTickMark val="out"/>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983615240"/>
        <c:crosses val="max"/>
        <c:crossBetween val="between"/>
      </c:valAx>
      <c:catAx>
        <c:axId val="983615240"/>
        <c:scaling>
          <c:orientation val="minMax"/>
        </c:scaling>
        <c:delete val="1"/>
        <c:axPos val="b"/>
        <c:numFmt formatCode="General" sourceLinked="1"/>
        <c:majorTickMark val="out"/>
        <c:minorTickMark val="none"/>
        <c:tickLblPos val="nextTo"/>
        <c:crossAx val="983602640"/>
        <c:crosses val="autoZero"/>
        <c:auto val="1"/>
        <c:lblAlgn val="ctr"/>
        <c:lblOffset val="100"/>
        <c:noMultiLvlLbl val="0"/>
      </c:cat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2"/>
          <c:order val="0"/>
          <c:tx>
            <c:strRef>
              <c:f>'Annual Cost Estimate New'!$D$14</c:f>
              <c:strCache>
                <c:ptCount val="1"/>
                <c:pt idx="0">
                  <c:v>Expected (Annual)</c:v>
                </c:pt>
              </c:strCache>
            </c:strRef>
          </c:tx>
          <c:spPr>
            <a:solidFill>
              <a:schemeClr val="accent1"/>
            </a:solidFill>
            <a:ln>
              <a:noFill/>
            </a:ln>
            <a:effectLst/>
          </c:spPr>
          <c:invertIfNegative val="0"/>
          <c:cat>
            <c:multiLvlStrRef>
              <c:f>'Annual Cost Estimate New'!$I$15:$J$34</c:f>
              <c:multiLvlStrCache>
                <c:ptCount val="20"/>
                <c:lvl>
                  <c:pt idx="0">
                    <c:v>2016</c:v>
                  </c:pt>
                  <c:pt idx="1">
                    <c:v>2017</c:v>
                  </c:pt>
                  <c:pt idx="2">
                    <c:v>2018</c:v>
                  </c:pt>
                  <c:pt idx="3">
                    <c:v>2019</c:v>
                  </c:pt>
                  <c:pt idx="4">
                    <c:v>2020</c:v>
                  </c:pt>
                  <c:pt idx="5">
                    <c:v>2021</c:v>
                  </c:pt>
                  <c:pt idx="6">
                    <c:v>2022</c:v>
                  </c:pt>
                  <c:pt idx="7">
                    <c:v>2023</c:v>
                  </c:pt>
                  <c:pt idx="8">
                    <c:v>2024</c:v>
                  </c:pt>
                  <c:pt idx="9">
                    <c:v>2025</c:v>
                  </c:pt>
                  <c:pt idx="10">
                    <c:v>2026</c:v>
                  </c:pt>
                  <c:pt idx="11">
                    <c:v>2027</c:v>
                  </c:pt>
                  <c:pt idx="12">
                    <c:v>2028</c:v>
                  </c:pt>
                  <c:pt idx="13">
                    <c:v>2029</c:v>
                  </c:pt>
                  <c:pt idx="14">
                    <c:v>2030</c:v>
                  </c:pt>
                  <c:pt idx="15">
                    <c:v>2031</c:v>
                  </c:pt>
                  <c:pt idx="16">
                    <c:v>2032</c:v>
                  </c:pt>
                  <c:pt idx="17">
                    <c:v>2033</c:v>
                  </c:pt>
                  <c:pt idx="18">
                    <c:v>2034</c:v>
                  </c:pt>
                  <c:pt idx="19">
                    <c:v>2035</c:v>
                  </c:pt>
                </c:lvl>
                <c:lvl>
                  <c:pt idx="0">
                    <c:v>500
 hrs</c:v>
                  </c:pt>
                  <c:pt idx="1">
                    <c:v>1000
 hrs</c:v>
                  </c:pt>
                  <c:pt idx="2">
                    <c:v>1500
 hrs</c:v>
                  </c:pt>
                  <c:pt idx="3">
                    <c:v>2000
 hrs</c:v>
                  </c:pt>
                  <c:pt idx="4">
                    <c:v>2500
 hrs</c:v>
                  </c:pt>
                  <c:pt idx="5">
                    <c:v>3000
 hrs</c:v>
                  </c:pt>
                  <c:pt idx="6">
                    <c:v>3500
 hrs</c:v>
                  </c:pt>
                  <c:pt idx="7">
                    <c:v>4000
 hrs</c:v>
                  </c:pt>
                  <c:pt idx="8">
                    <c:v>4500
 hrs</c:v>
                  </c:pt>
                  <c:pt idx="9">
                    <c:v>5000
 hrs</c:v>
                  </c:pt>
                  <c:pt idx="10">
                    <c:v>5500
 hrs</c:v>
                  </c:pt>
                  <c:pt idx="11">
                    <c:v>6000
 hrs</c:v>
                  </c:pt>
                  <c:pt idx="12">
                    <c:v>6500
 hrs</c:v>
                  </c:pt>
                  <c:pt idx="13">
                    <c:v>7000
 hrs</c:v>
                  </c:pt>
                  <c:pt idx="14">
                    <c:v>7500
 hrs</c:v>
                  </c:pt>
                  <c:pt idx="15">
                    <c:v>8000
 hrs</c:v>
                  </c:pt>
                  <c:pt idx="16">
                    <c:v>8500
 hrs</c:v>
                  </c:pt>
                  <c:pt idx="17">
                    <c:v>9000
 hrs</c:v>
                  </c:pt>
                  <c:pt idx="18">
                    <c:v>9500
 hrs</c:v>
                  </c:pt>
                  <c:pt idx="19">
                    <c:v>10000
 hrs</c:v>
                  </c:pt>
                </c:lvl>
              </c:multiLvlStrCache>
            </c:multiLvlStrRef>
          </c:cat>
          <c:val>
            <c:numRef>
              <c:f>'Annual Cost Estimate New'!$D$15:$D$34</c:f>
              <c:numCache>
                <c:formatCode>_-* #,##0_-;\-* #,##0_-;_-* "-"??_-;_-@_-</c:formatCode>
                <c:ptCount val="20"/>
                <c:pt idx="0">
                  <c:v>525</c:v>
                </c:pt>
                <c:pt idx="1">
                  <c:v>1575</c:v>
                </c:pt>
                <c:pt idx="2">
                  <c:v>2625</c:v>
                </c:pt>
                <c:pt idx="3">
                  <c:v>3675</c:v>
                </c:pt>
                <c:pt idx="4">
                  <c:v>4725</c:v>
                </c:pt>
                <c:pt idx="5">
                  <c:v>5775</c:v>
                </c:pt>
                <c:pt idx="6">
                  <c:v>6825</c:v>
                </c:pt>
                <c:pt idx="7">
                  <c:v>7875</c:v>
                </c:pt>
                <c:pt idx="8">
                  <c:v>8925</c:v>
                </c:pt>
                <c:pt idx="9">
                  <c:v>9975</c:v>
                </c:pt>
                <c:pt idx="10">
                  <c:v>11025</c:v>
                </c:pt>
                <c:pt idx="11">
                  <c:v>12075</c:v>
                </c:pt>
                <c:pt idx="12">
                  <c:v>13125</c:v>
                </c:pt>
                <c:pt idx="13">
                  <c:v>14175</c:v>
                </c:pt>
                <c:pt idx="14">
                  <c:v>15225</c:v>
                </c:pt>
                <c:pt idx="15">
                  <c:v>16275</c:v>
                </c:pt>
                <c:pt idx="16">
                  <c:v>17325</c:v>
                </c:pt>
                <c:pt idx="17">
                  <c:v>18375</c:v>
                </c:pt>
                <c:pt idx="18">
                  <c:v>19425</c:v>
                </c:pt>
                <c:pt idx="19">
                  <c:v>20475</c:v>
                </c:pt>
              </c:numCache>
            </c:numRef>
          </c:val>
          <c:extLst>
            <c:ext xmlns:c16="http://schemas.microsoft.com/office/drawing/2014/chart" uri="{C3380CC4-5D6E-409C-BE32-E72D297353CC}">
              <c16:uniqueId val="{00000000-2C53-4295-BAEF-B5C6C670BE24}"/>
            </c:ext>
          </c:extLst>
        </c:ser>
        <c:ser>
          <c:idx val="3"/>
          <c:order val="2"/>
          <c:tx>
            <c:strRef>
              <c:f>'Annual Cost Estimate New'!$F$14</c:f>
              <c:strCache>
                <c:ptCount val="1"/>
                <c:pt idx="0">
                  <c:v>Actual</c:v>
                </c:pt>
              </c:strCache>
            </c:strRef>
          </c:tx>
          <c:spPr>
            <a:solidFill>
              <a:srgbClr val="FF0000"/>
            </a:solidFill>
            <a:ln>
              <a:solidFill>
                <a:srgbClr val="FF0000"/>
              </a:solid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multiLvlStrRef>
              <c:f>'Annual Cost Estimate New'!$I$15:$J$34</c:f>
              <c:multiLvlStrCache>
                <c:ptCount val="20"/>
                <c:lvl>
                  <c:pt idx="0">
                    <c:v>2016</c:v>
                  </c:pt>
                  <c:pt idx="1">
                    <c:v>2017</c:v>
                  </c:pt>
                  <c:pt idx="2">
                    <c:v>2018</c:v>
                  </c:pt>
                  <c:pt idx="3">
                    <c:v>2019</c:v>
                  </c:pt>
                  <c:pt idx="4">
                    <c:v>2020</c:v>
                  </c:pt>
                  <c:pt idx="5">
                    <c:v>2021</c:v>
                  </c:pt>
                  <c:pt idx="6">
                    <c:v>2022</c:v>
                  </c:pt>
                  <c:pt idx="7">
                    <c:v>2023</c:v>
                  </c:pt>
                  <c:pt idx="8">
                    <c:v>2024</c:v>
                  </c:pt>
                  <c:pt idx="9">
                    <c:v>2025</c:v>
                  </c:pt>
                  <c:pt idx="10">
                    <c:v>2026</c:v>
                  </c:pt>
                  <c:pt idx="11">
                    <c:v>2027</c:v>
                  </c:pt>
                  <c:pt idx="12">
                    <c:v>2028</c:v>
                  </c:pt>
                  <c:pt idx="13">
                    <c:v>2029</c:v>
                  </c:pt>
                  <c:pt idx="14">
                    <c:v>2030</c:v>
                  </c:pt>
                  <c:pt idx="15">
                    <c:v>2031</c:v>
                  </c:pt>
                  <c:pt idx="16">
                    <c:v>2032</c:v>
                  </c:pt>
                  <c:pt idx="17">
                    <c:v>2033</c:v>
                  </c:pt>
                  <c:pt idx="18">
                    <c:v>2034</c:v>
                  </c:pt>
                  <c:pt idx="19">
                    <c:v>2035</c:v>
                  </c:pt>
                </c:lvl>
                <c:lvl>
                  <c:pt idx="0">
                    <c:v>500
 hrs</c:v>
                  </c:pt>
                  <c:pt idx="1">
                    <c:v>1000
 hrs</c:v>
                  </c:pt>
                  <c:pt idx="2">
                    <c:v>1500
 hrs</c:v>
                  </c:pt>
                  <c:pt idx="3">
                    <c:v>2000
 hrs</c:v>
                  </c:pt>
                  <c:pt idx="4">
                    <c:v>2500
 hrs</c:v>
                  </c:pt>
                  <c:pt idx="5">
                    <c:v>3000
 hrs</c:v>
                  </c:pt>
                  <c:pt idx="6">
                    <c:v>3500
 hrs</c:v>
                  </c:pt>
                  <c:pt idx="7">
                    <c:v>4000
 hrs</c:v>
                  </c:pt>
                  <c:pt idx="8">
                    <c:v>4500
 hrs</c:v>
                  </c:pt>
                  <c:pt idx="9">
                    <c:v>5000
 hrs</c:v>
                  </c:pt>
                  <c:pt idx="10">
                    <c:v>5500
 hrs</c:v>
                  </c:pt>
                  <c:pt idx="11">
                    <c:v>6000
 hrs</c:v>
                  </c:pt>
                  <c:pt idx="12">
                    <c:v>6500
 hrs</c:v>
                  </c:pt>
                  <c:pt idx="13">
                    <c:v>7000
 hrs</c:v>
                  </c:pt>
                  <c:pt idx="14">
                    <c:v>7500
 hrs</c:v>
                  </c:pt>
                  <c:pt idx="15">
                    <c:v>8000
 hrs</c:v>
                  </c:pt>
                  <c:pt idx="16">
                    <c:v>8500
 hrs</c:v>
                  </c:pt>
                  <c:pt idx="17">
                    <c:v>9000
 hrs</c:v>
                  </c:pt>
                  <c:pt idx="18">
                    <c:v>9500
 hrs</c:v>
                  </c:pt>
                  <c:pt idx="19">
                    <c:v>10000
 hrs</c:v>
                  </c:pt>
                </c:lvl>
              </c:multiLvlStrCache>
            </c:multiLvlStrRef>
          </c:cat>
          <c:val>
            <c:numRef>
              <c:f>'Annual Cost Estimate New'!$G$15:$G$34</c:f>
              <c:numCache>
                <c:formatCode>General</c:formatCode>
                <c:ptCount val="20"/>
                <c:pt idx="5" formatCode="_-* #,##0_-;\-* #,##0_-;_-* &quot;-&quot;??_-;_-@_-">
                  <c:v>22316.609999999997</c:v>
                </c:pt>
                <c:pt idx="6" formatCode="_-* #,##0_-;\-* #,##0_-;_-* &quot;-&quot;??_-;_-@_-">
                  <c:v>18388.689999999999</c:v>
                </c:pt>
                <c:pt idx="7" formatCode="_-* #,##0_-;\-* #,##0_-;_-* &quot;-&quot;??_-;_-@_-">
                  <c:v>67096.97</c:v>
                </c:pt>
                <c:pt idx="8" formatCode="_-* #,##0_-;\-* #,##0_-;_-* &quot;-&quot;??_-;_-@_-">
                  <c:v>59542.93</c:v>
                </c:pt>
                <c:pt idx="9" formatCode="_-* #,##0_-;\-* #,##0_-;_-* &quot;-&quot;??_-;_-@_-">
                  <c:v>203147.93</c:v>
                </c:pt>
                <c:pt idx="10" formatCode="_-* #,##0_-;\-* #,##0_-;_-* &quot;-&quot;??_-;_-@_-">
                  <c:v>117424.37</c:v>
                </c:pt>
              </c:numCache>
            </c:numRef>
          </c:val>
          <c:extLst>
            <c:ext xmlns:c16="http://schemas.microsoft.com/office/drawing/2014/chart" uri="{C3380CC4-5D6E-409C-BE32-E72D297353CC}">
              <c16:uniqueId val="{00000001-2C53-4295-BAEF-B5C6C670BE24}"/>
            </c:ext>
          </c:extLst>
        </c:ser>
        <c:dLbls>
          <c:showLegendKey val="0"/>
          <c:showVal val="0"/>
          <c:showCatName val="0"/>
          <c:showSerName val="0"/>
          <c:showPercent val="0"/>
          <c:showBubbleSize val="0"/>
        </c:dLbls>
        <c:gapWidth val="150"/>
        <c:axId val="985466112"/>
        <c:axId val="985465752"/>
      </c:barChart>
      <c:lineChart>
        <c:grouping val="standard"/>
        <c:varyColors val="0"/>
        <c:ser>
          <c:idx val="4"/>
          <c:order val="1"/>
          <c:tx>
            <c:v>Expected,Cummulative</c:v>
          </c:tx>
          <c:spPr>
            <a:ln w="28575" cap="rnd">
              <a:solidFill>
                <a:schemeClr val="accent1"/>
              </a:solidFill>
              <a:prstDash val="dash"/>
              <a:round/>
            </a:ln>
            <a:effectLst/>
          </c:spPr>
          <c:marker>
            <c:symbol val="none"/>
          </c:marker>
          <c:cat>
            <c:numRef>
              <c:f>'Annual Cost Estimate New'!$J$15:$J$34</c:f>
              <c:numCache>
                <c:formatCode>General</c:formatCode>
                <c:ptCount val="20"/>
                <c:pt idx="0">
                  <c:v>2016</c:v>
                </c:pt>
                <c:pt idx="1">
                  <c:v>2017</c:v>
                </c:pt>
                <c:pt idx="2">
                  <c:v>2018</c:v>
                </c:pt>
                <c:pt idx="3">
                  <c:v>2019</c:v>
                </c:pt>
                <c:pt idx="4">
                  <c:v>2020</c:v>
                </c:pt>
                <c:pt idx="5">
                  <c:v>2021</c:v>
                </c:pt>
                <c:pt idx="6">
                  <c:v>2022</c:v>
                </c:pt>
                <c:pt idx="7">
                  <c:v>2023</c:v>
                </c:pt>
                <c:pt idx="8">
                  <c:v>2024</c:v>
                </c:pt>
                <c:pt idx="9">
                  <c:v>2025</c:v>
                </c:pt>
                <c:pt idx="10">
                  <c:v>2026</c:v>
                </c:pt>
                <c:pt idx="11">
                  <c:v>2027</c:v>
                </c:pt>
                <c:pt idx="12">
                  <c:v>2028</c:v>
                </c:pt>
                <c:pt idx="13">
                  <c:v>2029</c:v>
                </c:pt>
                <c:pt idx="14">
                  <c:v>2030</c:v>
                </c:pt>
                <c:pt idx="15">
                  <c:v>2031</c:v>
                </c:pt>
                <c:pt idx="16">
                  <c:v>2032</c:v>
                </c:pt>
                <c:pt idx="17">
                  <c:v>2033</c:v>
                </c:pt>
                <c:pt idx="18">
                  <c:v>2034</c:v>
                </c:pt>
                <c:pt idx="19">
                  <c:v>2035</c:v>
                </c:pt>
              </c:numCache>
            </c:numRef>
          </c:cat>
          <c:val>
            <c:numRef>
              <c:f>'Annual Cost Estimate New'!$C$15:$C$34</c:f>
              <c:numCache>
                <c:formatCode>_-* #,##0_-;\-* #,##0_-;_-* "-"??_-;_-@_-</c:formatCode>
                <c:ptCount val="20"/>
                <c:pt idx="0">
                  <c:v>525</c:v>
                </c:pt>
                <c:pt idx="1">
                  <c:v>2100</c:v>
                </c:pt>
                <c:pt idx="2">
                  <c:v>4725</c:v>
                </c:pt>
                <c:pt idx="3">
                  <c:v>8400</c:v>
                </c:pt>
                <c:pt idx="4">
                  <c:v>13125</c:v>
                </c:pt>
                <c:pt idx="5">
                  <c:v>18900</c:v>
                </c:pt>
                <c:pt idx="6">
                  <c:v>25725</c:v>
                </c:pt>
                <c:pt idx="7">
                  <c:v>33600</c:v>
                </c:pt>
                <c:pt idx="8">
                  <c:v>42525</c:v>
                </c:pt>
                <c:pt idx="9">
                  <c:v>52500</c:v>
                </c:pt>
                <c:pt idx="10">
                  <c:v>63525</c:v>
                </c:pt>
                <c:pt idx="11">
                  <c:v>75600</c:v>
                </c:pt>
                <c:pt idx="12">
                  <c:v>88725</c:v>
                </c:pt>
                <c:pt idx="13">
                  <c:v>102900</c:v>
                </c:pt>
                <c:pt idx="14">
                  <c:v>118125</c:v>
                </c:pt>
                <c:pt idx="15">
                  <c:v>134400</c:v>
                </c:pt>
                <c:pt idx="16">
                  <c:v>151725</c:v>
                </c:pt>
                <c:pt idx="17">
                  <c:v>170100</c:v>
                </c:pt>
                <c:pt idx="18">
                  <c:v>189525</c:v>
                </c:pt>
                <c:pt idx="19">
                  <c:v>210000</c:v>
                </c:pt>
              </c:numCache>
            </c:numRef>
          </c:val>
          <c:smooth val="0"/>
          <c:extLst>
            <c:ext xmlns:c16="http://schemas.microsoft.com/office/drawing/2014/chart" uri="{C3380CC4-5D6E-409C-BE32-E72D297353CC}">
              <c16:uniqueId val="{00000002-2C53-4295-BAEF-B5C6C670BE24}"/>
            </c:ext>
          </c:extLst>
        </c:ser>
        <c:ser>
          <c:idx val="0"/>
          <c:order val="3"/>
          <c:tx>
            <c:strRef>
              <c:f>'Annual Cost Estimate New'!$H$14</c:f>
              <c:strCache>
                <c:ptCount val="1"/>
                <c:pt idx="0">
                  <c:v>Actual, Cummulative</c:v>
                </c:pt>
              </c:strCache>
            </c:strRef>
          </c:tx>
          <c:spPr>
            <a:ln w="28575" cap="rnd">
              <a:solidFill>
                <a:srgbClr val="FF0000"/>
              </a:solidFill>
              <a:prstDash val="dash"/>
              <a:round/>
            </a:ln>
            <a:effectLst/>
          </c:spPr>
          <c:marker>
            <c:symbol val="none"/>
          </c:marker>
          <c:cat>
            <c:numRef>
              <c:f>'Annual Cost Estimate New'!$J$15:$J$34</c:f>
              <c:numCache>
                <c:formatCode>General</c:formatCode>
                <c:ptCount val="20"/>
                <c:pt idx="0">
                  <c:v>2016</c:v>
                </c:pt>
                <c:pt idx="1">
                  <c:v>2017</c:v>
                </c:pt>
                <c:pt idx="2">
                  <c:v>2018</c:v>
                </c:pt>
                <c:pt idx="3">
                  <c:v>2019</c:v>
                </c:pt>
                <c:pt idx="4">
                  <c:v>2020</c:v>
                </c:pt>
                <c:pt idx="5">
                  <c:v>2021</c:v>
                </c:pt>
                <c:pt idx="6">
                  <c:v>2022</c:v>
                </c:pt>
                <c:pt idx="7">
                  <c:v>2023</c:v>
                </c:pt>
                <c:pt idx="8">
                  <c:v>2024</c:v>
                </c:pt>
                <c:pt idx="9">
                  <c:v>2025</c:v>
                </c:pt>
                <c:pt idx="10">
                  <c:v>2026</c:v>
                </c:pt>
                <c:pt idx="11">
                  <c:v>2027</c:v>
                </c:pt>
                <c:pt idx="12">
                  <c:v>2028</c:v>
                </c:pt>
                <c:pt idx="13">
                  <c:v>2029</c:v>
                </c:pt>
                <c:pt idx="14">
                  <c:v>2030</c:v>
                </c:pt>
                <c:pt idx="15">
                  <c:v>2031</c:v>
                </c:pt>
                <c:pt idx="16">
                  <c:v>2032</c:v>
                </c:pt>
                <c:pt idx="17">
                  <c:v>2033</c:v>
                </c:pt>
                <c:pt idx="18">
                  <c:v>2034</c:v>
                </c:pt>
                <c:pt idx="19">
                  <c:v>2035</c:v>
                </c:pt>
              </c:numCache>
            </c:numRef>
          </c:cat>
          <c:val>
            <c:numRef>
              <c:f>'Annual Cost Estimate New'!$H$15:$H$34</c:f>
              <c:numCache>
                <c:formatCode>_-* #,##0_-;\-* #,##0_-;_-* "-"??_-;_-@_-</c:formatCode>
                <c:ptCount val="20"/>
                <c:pt idx="0">
                  <c:v>525</c:v>
                </c:pt>
                <c:pt idx="1">
                  <c:v>2100</c:v>
                </c:pt>
                <c:pt idx="2">
                  <c:v>4725</c:v>
                </c:pt>
                <c:pt idx="3">
                  <c:v>8400</c:v>
                </c:pt>
                <c:pt idx="4">
                  <c:v>13125</c:v>
                </c:pt>
                <c:pt idx="5">
                  <c:v>35441.61</c:v>
                </c:pt>
                <c:pt idx="6">
                  <c:v>53830.3</c:v>
                </c:pt>
                <c:pt idx="7">
                  <c:v>120927.27</c:v>
                </c:pt>
                <c:pt idx="8">
                  <c:v>180470.2</c:v>
                </c:pt>
                <c:pt idx="9">
                  <c:v>383618.13</c:v>
                </c:pt>
                <c:pt idx="10">
                  <c:v>501042.5</c:v>
                </c:pt>
              </c:numCache>
            </c:numRef>
          </c:val>
          <c:smooth val="0"/>
          <c:extLst>
            <c:ext xmlns:c16="http://schemas.microsoft.com/office/drawing/2014/chart" uri="{C3380CC4-5D6E-409C-BE32-E72D297353CC}">
              <c16:uniqueId val="{00000003-2C53-4295-BAEF-B5C6C670BE24}"/>
            </c:ext>
          </c:extLst>
        </c:ser>
        <c:dLbls>
          <c:showLegendKey val="0"/>
          <c:showVal val="0"/>
          <c:showCatName val="0"/>
          <c:showSerName val="0"/>
          <c:showPercent val="0"/>
          <c:showBubbleSize val="0"/>
        </c:dLbls>
        <c:marker val="1"/>
        <c:smooth val="0"/>
        <c:axId val="983615240"/>
        <c:axId val="983602640"/>
      </c:lineChart>
      <c:catAx>
        <c:axId val="985466112"/>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GB"/>
                  <a:t>Year of Service</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985465752"/>
        <c:crosses val="autoZero"/>
        <c:auto val="1"/>
        <c:lblAlgn val="ctr"/>
        <c:lblOffset val="100"/>
        <c:noMultiLvlLbl val="0"/>
      </c:catAx>
      <c:valAx>
        <c:axId val="985465752"/>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GB"/>
                  <a:t>Annual</a:t>
                </a:r>
                <a:r>
                  <a:rPr lang="en-GB" baseline="0"/>
                  <a:t> Spend, ZAR</a:t>
                </a:r>
                <a:endParaRPr lang="en-GB"/>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GB"/>
            </a:p>
          </c:txPr>
        </c:title>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985466112"/>
        <c:crosses val="autoZero"/>
        <c:crossBetween val="between"/>
      </c:valAx>
      <c:valAx>
        <c:axId val="983602640"/>
        <c:scaling>
          <c:orientation val="minMax"/>
        </c:scaling>
        <c:delete val="0"/>
        <c:axPos val="r"/>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GB"/>
                  <a:t>Cummulative Spend, ZAR</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_-* #,##0_-;\-* #,##0_-;_-* &quot;-&quot;??_-;_-@_-" sourceLinked="1"/>
        <c:majorTickMark val="out"/>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983615240"/>
        <c:crosses val="max"/>
        <c:crossBetween val="between"/>
      </c:valAx>
      <c:catAx>
        <c:axId val="983615240"/>
        <c:scaling>
          <c:orientation val="minMax"/>
        </c:scaling>
        <c:delete val="1"/>
        <c:axPos val="b"/>
        <c:numFmt formatCode="General" sourceLinked="1"/>
        <c:majorTickMark val="out"/>
        <c:minorTickMark val="none"/>
        <c:tickLblPos val="nextTo"/>
        <c:crossAx val="983602640"/>
        <c:crosses val="autoZero"/>
        <c:auto val="1"/>
        <c:lblAlgn val="ctr"/>
        <c:lblOffset val="100"/>
        <c:noMultiLvlLbl val="0"/>
      </c:cat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diagrams/_rels/data1.xml.rels><?xml version="1.0" encoding="UTF-8" standalone="yes"?>
<Relationships xmlns="http://schemas.openxmlformats.org/package/2006/relationships"><Relationship Id="rId2" Type="http://schemas.openxmlformats.org/officeDocument/2006/relationships/hyperlink" Target="https://1drv.ms/p/c/146b18d905b935f6/IQBhRllbmeERS45C7DZl0Wl8AQubiMggqFUUXaWAixWeC9A?e=Kz0p8t" TargetMode="External"/><Relationship Id="rId1" Type="http://schemas.openxmlformats.org/officeDocument/2006/relationships/hyperlink" Target="https://1drv.ms/w/c/146b18d905b935f6/IQDsHJbsssUCTJ1fCbFb8bccAcKYMLiijB28mD8qkhA7b4o?e=5lorQB" TargetMode="External"/></Relationships>
</file>

<file path=ppt/diagrams/_rels/drawing1.xml.rels><?xml version="1.0" encoding="UTF-8" standalone="yes"?>
<Relationships xmlns="http://schemas.openxmlformats.org/package/2006/relationships"><Relationship Id="rId2" Type="http://schemas.openxmlformats.org/officeDocument/2006/relationships/hyperlink" Target="https://1drv.ms/p/c/146b18d905b935f6/IQBhRllbmeERS45C7DZl0Wl8AQubiMggqFUUXaWAixWeC9A?e=Kz0p8t" TargetMode="External"/><Relationship Id="rId1" Type="http://schemas.openxmlformats.org/officeDocument/2006/relationships/hyperlink" Target="https://1drv.ms/w/c/146b18d905b935f6/IQDsHJbsssUCTJ1fCbFb8bccAcKYMLiijB28mD8qkhA7b4o?e=5lorQB" TargetMode="External"/></Relationships>
</file>

<file path=ppt/diagrams/colors1.xml><?xml version="1.0" encoding="utf-8"?>
<dgm:colorsDef xmlns:dgm="http://schemas.openxmlformats.org/drawingml/2006/diagram" xmlns:a="http://schemas.openxmlformats.org/drawingml/2006/main" uniqueId="urn:microsoft.com/office/officeart/2005/8/colors/accent2_1#1">
  <dgm:title val=""/>
  <dgm:desc val=""/>
  <dgm:catLst>
    <dgm:cat type="accent2" pri="11100"/>
  </dgm:catLst>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C8D07EE-BDB7-4C5F-98B7-97B016888A09}" type="doc">
      <dgm:prSet loTypeId="urn:microsoft.com/office/officeart/2005/8/layout/lProcess2" loCatId="list" qsTypeId="urn:microsoft.com/office/officeart/2005/8/quickstyle/simple1#1" qsCatId="simple" csTypeId="urn:microsoft.com/office/officeart/2005/8/colors/accent2_1#1" csCatId="accent2" phldr="1"/>
      <dgm:spPr/>
      <dgm:t>
        <a:bodyPr/>
        <a:lstStyle/>
        <a:p>
          <a:endParaRPr lang="en-GB"/>
        </a:p>
      </dgm:t>
    </dgm:pt>
    <dgm:pt modelId="{4FA3533D-E7F4-4CBB-9E19-6BB8396F6567}">
      <dgm:prSet/>
      <dgm:spPr/>
      <dgm:t>
        <a:bodyPr/>
        <a:lstStyle/>
        <a:p>
          <a:r>
            <a:rPr lang="en-GB" b="1"/>
            <a:t>Immediate Operational Control </a:t>
          </a:r>
        </a:p>
        <a:p>
          <a:r>
            <a:rPr lang="en-GB" b="1"/>
            <a:t>(Weeks 1–2)</a:t>
          </a:r>
          <a:endParaRPr lang="en-GB"/>
        </a:p>
      </dgm:t>
    </dgm:pt>
    <dgm:pt modelId="{64307599-A5E8-4DD1-BAD1-2249F7E5A05D}" type="parTrans" cxnId="{4FDA51B1-35A9-4438-91E3-25BB58D391CF}">
      <dgm:prSet/>
      <dgm:spPr/>
      <dgm:t>
        <a:bodyPr/>
        <a:lstStyle/>
        <a:p>
          <a:endParaRPr lang="en-GB"/>
        </a:p>
      </dgm:t>
    </dgm:pt>
    <dgm:pt modelId="{6646A337-D439-4958-B315-91B7A545341F}" type="sibTrans" cxnId="{4FDA51B1-35A9-4438-91E3-25BB58D391CF}">
      <dgm:prSet/>
      <dgm:spPr/>
      <dgm:t>
        <a:bodyPr/>
        <a:lstStyle/>
        <a:p>
          <a:endParaRPr lang="en-GB"/>
        </a:p>
      </dgm:t>
    </dgm:pt>
    <dgm:pt modelId="{C7180994-3997-490E-A46C-F837FD88CB2A}">
      <dgm:prSet/>
      <dgm:spPr/>
      <dgm:t>
        <a:bodyPr/>
        <a:lstStyle/>
        <a:p>
          <a:r>
            <a:rPr lang="en-GB" b="1"/>
            <a:t>Print &amp; Place Checklists:</a:t>
          </a:r>
          <a:r>
            <a:rPr lang="en-GB"/>
            <a:t> Bind and place the Daily Pre-Start Checklists directly inside the tractor cabin box. </a:t>
          </a:r>
        </a:p>
        <a:p>
          <a:r>
            <a:rPr lang="en-GB"/>
            <a:t>[Draft checklists here: </a:t>
          </a:r>
          <a:r>
            <a:rPr lang="en-GB">
              <a:hlinkClick xmlns:r="http://schemas.openxmlformats.org/officeDocument/2006/relationships" r:id="rId1"/>
            </a:rPr>
            <a:t>Checklists.docx</a:t>
          </a:r>
          <a:r>
            <a:rPr lang="en-GB"/>
            <a:t>]</a:t>
          </a:r>
        </a:p>
      </dgm:t>
    </dgm:pt>
    <dgm:pt modelId="{7385FD10-8E8D-49E1-8C36-1081BF9C6791}" type="parTrans" cxnId="{36E6963D-0FF0-4D39-BF20-7022FDFB2E29}">
      <dgm:prSet/>
      <dgm:spPr/>
      <dgm:t>
        <a:bodyPr/>
        <a:lstStyle/>
        <a:p>
          <a:endParaRPr lang="en-GB"/>
        </a:p>
      </dgm:t>
    </dgm:pt>
    <dgm:pt modelId="{F464F8E9-C618-4EDD-8B0F-BF478F9714B1}" type="sibTrans" cxnId="{36E6963D-0FF0-4D39-BF20-7022FDFB2E29}">
      <dgm:prSet/>
      <dgm:spPr/>
      <dgm:t>
        <a:bodyPr/>
        <a:lstStyle/>
        <a:p>
          <a:endParaRPr lang="en-GB"/>
        </a:p>
      </dgm:t>
    </dgm:pt>
    <dgm:pt modelId="{903E4A72-1AA3-4FE9-90EE-223628636165}">
      <dgm:prSet/>
      <dgm:spPr/>
      <dgm:t>
        <a:bodyPr/>
        <a:lstStyle/>
        <a:p>
          <a:r>
            <a:rPr lang="en-GB" b="1"/>
            <a:t>Slasher Retrofit:</a:t>
          </a:r>
          <a:r>
            <a:rPr lang="en-GB"/>
            <a:t> Purchase and install heavy-duty, puncture-proof trailing caster wheels onto the Falcon slasher deck to establish the mandatory 2–3 cm ground clearance gap.</a:t>
          </a:r>
        </a:p>
      </dgm:t>
    </dgm:pt>
    <dgm:pt modelId="{AA4B85FA-1719-44FF-9B2A-0D749C58DB88}" type="parTrans" cxnId="{418AF06A-AB1F-45E7-8CE4-AC27CB97B628}">
      <dgm:prSet/>
      <dgm:spPr/>
      <dgm:t>
        <a:bodyPr/>
        <a:lstStyle/>
        <a:p>
          <a:endParaRPr lang="en-GB"/>
        </a:p>
      </dgm:t>
    </dgm:pt>
    <dgm:pt modelId="{8CD8831C-C6D1-47D2-B888-EEB390E4BBF9}" type="sibTrans" cxnId="{418AF06A-AB1F-45E7-8CE4-AC27CB97B628}">
      <dgm:prSet/>
      <dgm:spPr/>
      <dgm:t>
        <a:bodyPr/>
        <a:lstStyle/>
        <a:p>
          <a:endParaRPr lang="en-GB"/>
        </a:p>
      </dgm:t>
    </dgm:pt>
    <dgm:pt modelId="{BFBC8BB7-763D-41C0-87D7-35ED8198137B}">
      <dgm:prSet/>
      <dgm:spPr/>
      <dgm:t>
        <a:bodyPr/>
        <a:lstStyle/>
        <a:p>
          <a:r>
            <a:rPr lang="en-GB" b="1"/>
            <a:t>Establish Digital Influx:</a:t>
          </a:r>
          <a:r>
            <a:rPr lang="en-GB"/>
            <a:t> Generate the cloud folder upload QR code sticker and mount it directly onto the tractor dashboard for supervisor shift-end photo submissions.</a:t>
          </a:r>
        </a:p>
      </dgm:t>
    </dgm:pt>
    <dgm:pt modelId="{20C6B28E-2CCE-466F-A8F6-32153A037C18}" type="parTrans" cxnId="{0C8A9879-5FA8-4627-A258-EE9C241B2383}">
      <dgm:prSet/>
      <dgm:spPr/>
      <dgm:t>
        <a:bodyPr/>
        <a:lstStyle/>
        <a:p>
          <a:endParaRPr lang="en-GB"/>
        </a:p>
      </dgm:t>
    </dgm:pt>
    <dgm:pt modelId="{9BFBBE06-DC15-4B8D-84F8-82B56801DF13}" type="sibTrans" cxnId="{0C8A9879-5FA8-4627-A258-EE9C241B2383}">
      <dgm:prSet/>
      <dgm:spPr/>
      <dgm:t>
        <a:bodyPr/>
        <a:lstStyle/>
        <a:p>
          <a:endParaRPr lang="en-GB"/>
        </a:p>
      </dgm:t>
    </dgm:pt>
    <dgm:pt modelId="{E8ABEF48-3073-4BB2-ADA4-9BCCED413549}">
      <dgm:prSet/>
      <dgm:spPr/>
      <dgm:t>
        <a:bodyPr/>
        <a:lstStyle/>
        <a:p>
          <a:r>
            <a:rPr lang="en-GB" b="1"/>
            <a:t>Driver Accountability &amp; Enforcement </a:t>
          </a:r>
        </a:p>
        <a:p>
          <a:r>
            <a:rPr lang="en-GB" b="1"/>
            <a:t>(Weeks 3–4)</a:t>
          </a:r>
          <a:endParaRPr lang="en-GB"/>
        </a:p>
      </dgm:t>
    </dgm:pt>
    <dgm:pt modelId="{F97F1249-5DD5-46B7-BB2E-0C283F008275}" type="parTrans" cxnId="{A3D11143-C67C-4B08-AF63-E9A805647BC9}">
      <dgm:prSet/>
      <dgm:spPr/>
      <dgm:t>
        <a:bodyPr/>
        <a:lstStyle/>
        <a:p>
          <a:endParaRPr lang="en-GB"/>
        </a:p>
      </dgm:t>
    </dgm:pt>
    <dgm:pt modelId="{4FAE5573-B571-41D1-B312-1AF2A3494143}" type="sibTrans" cxnId="{A3D11143-C67C-4B08-AF63-E9A805647BC9}">
      <dgm:prSet/>
      <dgm:spPr/>
      <dgm:t>
        <a:bodyPr/>
        <a:lstStyle/>
        <a:p>
          <a:endParaRPr lang="en-GB"/>
        </a:p>
      </dgm:t>
    </dgm:pt>
    <dgm:pt modelId="{7638A667-FB73-4A6D-BFAB-77D018B05CF4}">
      <dgm:prSet/>
      <dgm:spPr/>
      <dgm:t>
        <a:bodyPr/>
        <a:lstStyle/>
        <a:p>
          <a:r>
            <a:rPr lang="en-GB" b="1"/>
            <a:t>Practical Retraining:</a:t>
          </a:r>
          <a:r>
            <a:rPr lang="en-GB"/>
            <a:t> Conduct an on-site practical session for all estate drivers focusing strictly on Low-Range gear selection (L1–L3) and the "foot completely off the clutch" mandate.</a:t>
          </a:r>
          <a:br>
            <a:rPr lang="en-GB"/>
          </a:br>
          <a:r>
            <a:rPr lang="en-GB"/>
            <a:t>[Training Material here: </a:t>
          </a:r>
          <a:r>
            <a:rPr lang="en-GB">
              <a:hlinkClick xmlns:r="http://schemas.openxmlformats.org/officeDocument/2006/relationships" r:id="rId2"/>
            </a:rPr>
            <a:t>Tractor Training.pptx</a:t>
          </a:r>
          <a:r>
            <a:rPr lang="en-GB"/>
            <a:t>]</a:t>
          </a:r>
        </a:p>
      </dgm:t>
    </dgm:pt>
    <dgm:pt modelId="{8A07086A-38D7-4036-91FD-D189E298DFBC}" type="parTrans" cxnId="{DC6C4E95-F30C-4B0F-B91B-B12C42E9A366}">
      <dgm:prSet/>
      <dgm:spPr/>
      <dgm:t>
        <a:bodyPr/>
        <a:lstStyle/>
        <a:p>
          <a:endParaRPr lang="en-GB"/>
        </a:p>
      </dgm:t>
    </dgm:pt>
    <dgm:pt modelId="{0BCC5360-ADE5-4C9D-9C49-AF9C6638E2F6}" type="sibTrans" cxnId="{DC6C4E95-F30C-4B0F-B91B-B12C42E9A366}">
      <dgm:prSet/>
      <dgm:spPr/>
      <dgm:t>
        <a:bodyPr/>
        <a:lstStyle/>
        <a:p>
          <a:endParaRPr lang="en-GB"/>
        </a:p>
      </dgm:t>
    </dgm:pt>
    <dgm:pt modelId="{95271F68-A6DE-42AA-AB68-353A4E3CCF39}">
      <dgm:prSet/>
      <dgm:spPr/>
      <dgm:t>
        <a:bodyPr/>
        <a:lstStyle/>
        <a:p>
          <a:r>
            <a:rPr lang="en-GB" b="1"/>
            <a:t>Signed Accountability:</a:t>
          </a:r>
          <a:r>
            <a:rPr lang="en-GB"/>
            <a:t> Secure signed declarations from every operator confirming their understanding of the new speed modulation rules and the disciplinary consequences of clutch riding.</a:t>
          </a:r>
        </a:p>
      </dgm:t>
    </dgm:pt>
    <dgm:pt modelId="{61EDE04E-7013-4510-B249-36C53DB08D12}" type="parTrans" cxnId="{96CDF008-BD97-4B2C-9C42-8BD79C15DE07}">
      <dgm:prSet/>
      <dgm:spPr/>
      <dgm:t>
        <a:bodyPr/>
        <a:lstStyle/>
        <a:p>
          <a:endParaRPr lang="en-GB"/>
        </a:p>
      </dgm:t>
    </dgm:pt>
    <dgm:pt modelId="{84D5013E-E7A5-4077-9347-D44BAD8A760A}" type="sibTrans" cxnId="{96CDF008-BD97-4B2C-9C42-8BD79C15DE07}">
      <dgm:prSet/>
      <dgm:spPr/>
      <dgm:t>
        <a:bodyPr/>
        <a:lstStyle/>
        <a:p>
          <a:endParaRPr lang="en-GB"/>
        </a:p>
      </dgm:t>
    </dgm:pt>
    <dgm:pt modelId="{4684BB0F-3726-4FE2-8DD5-58C6325D1DC4}">
      <dgm:prSet/>
      <dgm:spPr/>
      <dgm:t>
        <a:bodyPr/>
        <a:lstStyle/>
        <a:p>
          <a:r>
            <a:rPr lang="en-GB" b="1"/>
            <a:t>Launch Field Audits:</a:t>
          </a:r>
          <a:r>
            <a:rPr lang="en-GB"/>
            <a:t> Begin unannounced monthly Field Operator Verification Audits to actively police field compliance.</a:t>
          </a:r>
        </a:p>
      </dgm:t>
    </dgm:pt>
    <dgm:pt modelId="{B1ABB2FF-41F3-4B4B-A26C-5D0854FED527}" type="parTrans" cxnId="{AFD5E34B-0CD3-4358-92B6-DE2AB4446B08}">
      <dgm:prSet/>
      <dgm:spPr/>
      <dgm:t>
        <a:bodyPr/>
        <a:lstStyle/>
        <a:p>
          <a:endParaRPr lang="en-GB"/>
        </a:p>
      </dgm:t>
    </dgm:pt>
    <dgm:pt modelId="{E96AA08A-D34C-4C51-804B-DD2FA2E3430B}" type="sibTrans" cxnId="{AFD5E34B-0CD3-4358-92B6-DE2AB4446B08}">
      <dgm:prSet/>
      <dgm:spPr/>
      <dgm:t>
        <a:bodyPr/>
        <a:lstStyle/>
        <a:p>
          <a:endParaRPr lang="en-GB"/>
        </a:p>
      </dgm:t>
    </dgm:pt>
    <dgm:pt modelId="{E2E7FC8B-060C-4F91-BD65-D840291D2B3E}">
      <dgm:prSet/>
      <dgm:spPr/>
      <dgm:t>
        <a:bodyPr/>
        <a:lstStyle/>
        <a:p>
          <a:r>
            <a:rPr lang="en-GB" b="1"/>
            <a:t>Strategic Capital Management </a:t>
          </a:r>
        </a:p>
        <a:p>
          <a:r>
            <a:rPr lang="en-GB" b="1"/>
            <a:t>(Month 2 Onwards)</a:t>
          </a:r>
          <a:endParaRPr lang="en-GB"/>
        </a:p>
      </dgm:t>
    </dgm:pt>
    <dgm:pt modelId="{49C07BD6-DCC2-4F9E-A113-6E2B77C35712}" type="parTrans" cxnId="{9C20E831-7A48-4F90-B781-7551273021DC}">
      <dgm:prSet/>
      <dgm:spPr/>
      <dgm:t>
        <a:bodyPr/>
        <a:lstStyle/>
        <a:p>
          <a:endParaRPr lang="en-GB"/>
        </a:p>
      </dgm:t>
    </dgm:pt>
    <dgm:pt modelId="{B2414236-BD73-4D33-8374-4CDAD0B9EEE0}" type="sibTrans" cxnId="{9C20E831-7A48-4F90-B781-7551273021DC}">
      <dgm:prSet/>
      <dgm:spPr/>
      <dgm:t>
        <a:bodyPr/>
        <a:lstStyle/>
        <a:p>
          <a:endParaRPr lang="en-GB"/>
        </a:p>
      </dgm:t>
    </dgm:pt>
    <dgm:pt modelId="{8E182B5E-AC4E-4339-BB79-A395499D2DAF}">
      <dgm:prSet/>
      <dgm:spPr/>
      <dgm:t>
        <a:bodyPr/>
        <a:lstStyle/>
        <a:p>
          <a:r>
            <a:rPr lang="en-GB" b="1"/>
            <a:t>Formulate the ELR Policy:</a:t>
          </a:r>
          <a:r>
            <a:rPr lang="en-GB"/>
            <a:t> Present the formal Economic Limit of Repair framework to the estate board for official sign-off to codify the 30% single-estimate and 50% cumulative-expenditure boundaries.</a:t>
          </a:r>
        </a:p>
      </dgm:t>
    </dgm:pt>
    <dgm:pt modelId="{1FF5CA0A-5190-4FF1-BD2A-ED7F399989A1}" type="parTrans" cxnId="{7A1B7D83-D215-4728-A544-02FB6712FD31}">
      <dgm:prSet/>
      <dgm:spPr/>
      <dgm:t>
        <a:bodyPr/>
        <a:lstStyle/>
        <a:p>
          <a:endParaRPr lang="en-GB"/>
        </a:p>
      </dgm:t>
    </dgm:pt>
    <dgm:pt modelId="{DCC05B83-B6AE-4153-A759-AA94213CFE59}" type="sibTrans" cxnId="{7A1B7D83-D215-4728-A544-02FB6712FD31}">
      <dgm:prSet/>
      <dgm:spPr/>
      <dgm:t>
        <a:bodyPr/>
        <a:lstStyle/>
        <a:p>
          <a:endParaRPr lang="en-GB"/>
        </a:p>
      </dgm:t>
    </dgm:pt>
    <dgm:pt modelId="{29214EFF-4640-4EAC-B542-3A405C8B48FA}">
      <dgm:prSet/>
      <dgm:spPr/>
      <dgm:t>
        <a:bodyPr/>
        <a:lstStyle/>
        <a:p>
          <a:r>
            <a:rPr lang="en-GB" b="1"/>
            <a:t>Procurement Review:</a:t>
          </a:r>
          <a:r>
            <a:rPr lang="en-GB"/>
            <a:t> Initiate a market analysis for next-generation estate support vehicles featuring Hydrostatic or Power Shuttle transmissions to future-proof upcoming capital procurement cycles.</a:t>
          </a:r>
        </a:p>
      </dgm:t>
    </dgm:pt>
    <dgm:pt modelId="{21AA5E10-A234-47E6-ADB3-15551F3073C3}" type="parTrans" cxnId="{64CB11F0-BC8A-4C06-AAD8-73F412215810}">
      <dgm:prSet/>
      <dgm:spPr/>
      <dgm:t>
        <a:bodyPr/>
        <a:lstStyle/>
        <a:p>
          <a:endParaRPr lang="en-GB"/>
        </a:p>
      </dgm:t>
    </dgm:pt>
    <dgm:pt modelId="{C772E000-A29D-4C63-9869-0E506683181F}" type="sibTrans" cxnId="{64CB11F0-BC8A-4C06-AAD8-73F412215810}">
      <dgm:prSet/>
      <dgm:spPr/>
      <dgm:t>
        <a:bodyPr/>
        <a:lstStyle/>
        <a:p>
          <a:endParaRPr lang="en-GB"/>
        </a:p>
      </dgm:t>
    </dgm:pt>
    <dgm:pt modelId="{5E5F13B0-C2BE-48E5-9044-39016DADDE38}" type="pres">
      <dgm:prSet presAssocID="{CC8D07EE-BDB7-4C5F-98B7-97B016888A09}" presName="theList" presStyleCnt="0">
        <dgm:presLayoutVars>
          <dgm:dir/>
          <dgm:animLvl val="lvl"/>
          <dgm:resizeHandles val="exact"/>
        </dgm:presLayoutVars>
      </dgm:prSet>
      <dgm:spPr/>
    </dgm:pt>
    <dgm:pt modelId="{63E5B9F7-195A-4772-95F5-763272AFB357}" type="pres">
      <dgm:prSet presAssocID="{4FA3533D-E7F4-4CBB-9E19-6BB8396F6567}" presName="compNode" presStyleCnt="0"/>
      <dgm:spPr/>
    </dgm:pt>
    <dgm:pt modelId="{AD11D527-B702-4535-8FB0-F83B5746BA8B}" type="pres">
      <dgm:prSet presAssocID="{4FA3533D-E7F4-4CBB-9E19-6BB8396F6567}" presName="aNode" presStyleLbl="bgShp" presStyleIdx="0" presStyleCnt="3"/>
      <dgm:spPr/>
    </dgm:pt>
    <dgm:pt modelId="{9D8A9DB7-28A6-4341-B965-00ECB410A584}" type="pres">
      <dgm:prSet presAssocID="{4FA3533D-E7F4-4CBB-9E19-6BB8396F6567}" presName="textNode" presStyleLbl="bgShp" presStyleIdx="0" presStyleCnt="3"/>
      <dgm:spPr/>
    </dgm:pt>
    <dgm:pt modelId="{1DF8570A-2997-43D1-887A-4D583DFD076D}" type="pres">
      <dgm:prSet presAssocID="{4FA3533D-E7F4-4CBB-9E19-6BB8396F6567}" presName="compChildNode" presStyleCnt="0"/>
      <dgm:spPr/>
    </dgm:pt>
    <dgm:pt modelId="{1DC1C317-0E27-41EE-83A7-D1B78378C3F5}" type="pres">
      <dgm:prSet presAssocID="{4FA3533D-E7F4-4CBB-9E19-6BB8396F6567}" presName="theInnerList" presStyleCnt="0"/>
      <dgm:spPr/>
    </dgm:pt>
    <dgm:pt modelId="{5975E473-CD0E-402F-850B-6B2CBE8D0394}" type="pres">
      <dgm:prSet presAssocID="{C7180994-3997-490E-A46C-F837FD88CB2A}" presName="childNode" presStyleLbl="node1" presStyleIdx="0" presStyleCnt="8">
        <dgm:presLayoutVars>
          <dgm:bulletEnabled val="1"/>
        </dgm:presLayoutVars>
      </dgm:prSet>
      <dgm:spPr/>
    </dgm:pt>
    <dgm:pt modelId="{B9FEFB0E-09A8-4CD1-BA94-6212F2CD5D57}" type="pres">
      <dgm:prSet presAssocID="{C7180994-3997-490E-A46C-F837FD88CB2A}" presName="aSpace2" presStyleCnt="0"/>
      <dgm:spPr/>
    </dgm:pt>
    <dgm:pt modelId="{C4588EFB-333E-4E0B-B500-962451ABECB3}" type="pres">
      <dgm:prSet presAssocID="{903E4A72-1AA3-4FE9-90EE-223628636165}" presName="childNode" presStyleLbl="node1" presStyleIdx="1" presStyleCnt="8">
        <dgm:presLayoutVars>
          <dgm:bulletEnabled val="1"/>
        </dgm:presLayoutVars>
      </dgm:prSet>
      <dgm:spPr/>
    </dgm:pt>
    <dgm:pt modelId="{2927798C-706A-43A1-8792-40C83CB42D8A}" type="pres">
      <dgm:prSet presAssocID="{903E4A72-1AA3-4FE9-90EE-223628636165}" presName="aSpace2" presStyleCnt="0"/>
      <dgm:spPr/>
    </dgm:pt>
    <dgm:pt modelId="{2CF8870F-D42A-4F71-B3AE-60C348A83148}" type="pres">
      <dgm:prSet presAssocID="{BFBC8BB7-763D-41C0-87D7-35ED8198137B}" presName="childNode" presStyleLbl="node1" presStyleIdx="2" presStyleCnt="8">
        <dgm:presLayoutVars>
          <dgm:bulletEnabled val="1"/>
        </dgm:presLayoutVars>
      </dgm:prSet>
      <dgm:spPr/>
    </dgm:pt>
    <dgm:pt modelId="{40F5080E-564F-41F9-B1EB-86D77C835ABA}" type="pres">
      <dgm:prSet presAssocID="{4FA3533D-E7F4-4CBB-9E19-6BB8396F6567}" presName="aSpace" presStyleCnt="0"/>
      <dgm:spPr/>
    </dgm:pt>
    <dgm:pt modelId="{67E4C3B7-6422-492E-AF80-A9260A59570F}" type="pres">
      <dgm:prSet presAssocID="{E8ABEF48-3073-4BB2-ADA4-9BCCED413549}" presName="compNode" presStyleCnt="0"/>
      <dgm:spPr/>
    </dgm:pt>
    <dgm:pt modelId="{FE790B75-A05C-4E4F-8F90-D8C05C6FF4D1}" type="pres">
      <dgm:prSet presAssocID="{E8ABEF48-3073-4BB2-ADA4-9BCCED413549}" presName="aNode" presStyleLbl="bgShp" presStyleIdx="1" presStyleCnt="3"/>
      <dgm:spPr/>
    </dgm:pt>
    <dgm:pt modelId="{92A287CB-0BFA-4A08-874B-330367948041}" type="pres">
      <dgm:prSet presAssocID="{E8ABEF48-3073-4BB2-ADA4-9BCCED413549}" presName="textNode" presStyleLbl="bgShp" presStyleIdx="1" presStyleCnt="3"/>
      <dgm:spPr/>
    </dgm:pt>
    <dgm:pt modelId="{E7B82753-D759-4B13-950E-EA8E417EFE15}" type="pres">
      <dgm:prSet presAssocID="{E8ABEF48-3073-4BB2-ADA4-9BCCED413549}" presName="compChildNode" presStyleCnt="0"/>
      <dgm:spPr/>
    </dgm:pt>
    <dgm:pt modelId="{71CD21F8-5F74-47DE-A5B4-9933689B70D0}" type="pres">
      <dgm:prSet presAssocID="{E8ABEF48-3073-4BB2-ADA4-9BCCED413549}" presName="theInnerList" presStyleCnt="0"/>
      <dgm:spPr/>
    </dgm:pt>
    <dgm:pt modelId="{D5C5BE1E-E902-4795-AD02-5B6E0F7C2DF4}" type="pres">
      <dgm:prSet presAssocID="{7638A667-FB73-4A6D-BFAB-77D018B05CF4}" presName="childNode" presStyleLbl="node1" presStyleIdx="3" presStyleCnt="8">
        <dgm:presLayoutVars>
          <dgm:bulletEnabled val="1"/>
        </dgm:presLayoutVars>
      </dgm:prSet>
      <dgm:spPr/>
    </dgm:pt>
    <dgm:pt modelId="{28B2A1AF-788D-4883-B598-E7D2F1CDBE5A}" type="pres">
      <dgm:prSet presAssocID="{7638A667-FB73-4A6D-BFAB-77D018B05CF4}" presName="aSpace2" presStyleCnt="0"/>
      <dgm:spPr/>
    </dgm:pt>
    <dgm:pt modelId="{829C3DC5-7AAE-448B-A4FB-86FAE5FD7345}" type="pres">
      <dgm:prSet presAssocID="{95271F68-A6DE-42AA-AB68-353A4E3CCF39}" presName="childNode" presStyleLbl="node1" presStyleIdx="4" presStyleCnt="8">
        <dgm:presLayoutVars>
          <dgm:bulletEnabled val="1"/>
        </dgm:presLayoutVars>
      </dgm:prSet>
      <dgm:spPr/>
    </dgm:pt>
    <dgm:pt modelId="{377E482E-7ABC-41EF-BD15-C48A0A6D42A7}" type="pres">
      <dgm:prSet presAssocID="{95271F68-A6DE-42AA-AB68-353A4E3CCF39}" presName="aSpace2" presStyleCnt="0"/>
      <dgm:spPr/>
    </dgm:pt>
    <dgm:pt modelId="{F47CD9E7-A4DA-4330-A028-3812EC468BF2}" type="pres">
      <dgm:prSet presAssocID="{4684BB0F-3726-4FE2-8DD5-58C6325D1DC4}" presName="childNode" presStyleLbl="node1" presStyleIdx="5" presStyleCnt="8">
        <dgm:presLayoutVars>
          <dgm:bulletEnabled val="1"/>
        </dgm:presLayoutVars>
      </dgm:prSet>
      <dgm:spPr/>
    </dgm:pt>
    <dgm:pt modelId="{13D863D5-BD5D-476D-ACBF-C45732F1567A}" type="pres">
      <dgm:prSet presAssocID="{E8ABEF48-3073-4BB2-ADA4-9BCCED413549}" presName="aSpace" presStyleCnt="0"/>
      <dgm:spPr/>
    </dgm:pt>
    <dgm:pt modelId="{E6B312FC-D814-49D3-8E84-FEF1FCB2B028}" type="pres">
      <dgm:prSet presAssocID="{E2E7FC8B-060C-4F91-BD65-D840291D2B3E}" presName="compNode" presStyleCnt="0"/>
      <dgm:spPr/>
    </dgm:pt>
    <dgm:pt modelId="{74755D2C-D2E7-49D7-953E-94E264916B14}" type="pres">
      <dgm:prSet presAssocID="{E2E7FC8B-060C-4F91-BD65-D840291D2B3E}" presName="aNode" presStyleLbl="bgShp" presStyleIdx="2" presStyleCnt="3"/>
      <dgm:spPr/>
    </dgm:pt>
    <dgm:pt modelId="{D99EC2E6-0111-4138-BD49-2885BF3EE6C9}" type="pres">
      <dgm:prSet presAssocID="{E2E7FC8B-060C-4F91-BD65-D840291D2B3E}" presName="textNode" presStyleLbl="bgShp" presStyleIdx="2" presStyleCnt="3"/>
      <dgm:spPr/>
    </dgm:pt>
    <dgm:pt modelId="{3C07548E-943C-4303-A759-379297AE01CC}" type="pres">
      <dgm:prSet presAssocID="{E2E7FC8B-060C-4F91-BD65-D840291D2B3E}" presName="compChildNode" presStyleCnt="0"/>
      <dgm:spPr/>
    </dgm:pt>
    <dgm:pt modelId="{231809AF-C14B-4C82-913A-E4B1FB972328}" type="pres">
      <dgm:prSet presAssocID="{E2E7FC8B-060C-4F91-BD65-D840291D2B3E}" presName="theInnerList" presStyleCnt="0"/>
      <dgm:spPr/>
    </dgm:pt>
    <dgm:pt modelId="{A563F8C0-E4CC-4B12-BEBC-C80E014D6311}" type="pres">
      <dgm:prSet presAssocID="{8E182B5E-AC4E-4339-BB79-A395499D2DAF}" presName="childNode" presStyleLbl="node1" presStyleIdx="6" presStyleCnt="8">
        <dgm:presLayoutVars>
          <dgm:bulletEnabled val="1"/>
        </dgm:presLayoutVars>
      </dgm:prSet>
      <dgm:spPr/>
    </dgm:pt>
    <dgm:pt modelId="{C1F8F360-DF16-4532-B457-6353D42A210E}" type="pres">
      <dgm:prSet presAssocID="{8E182B5E-AC4E-4339-BB79-A395499D2DAF}" presName="aSpace2" presStyleCnt="0"/>
      <dgm:spPr/>
    </dgm:pt>
    <dgm:pt modelId="{601C8D8A-D1E6-4C06-A394-8662442D60E3}" type="pres">
      <dgm:prSet presAssocID="{29214EFF-4640-4EAC-B542-3A405C8B48FA}" presName="childNode" presStyleLbl="node1" presStyleIdx="7" presStyleCnt="8">
        <dgm:presLayoutVars>
          <dgm:bulletEnabled val="1"/>
        </dgm:presLayoutVars>
      </dgm:prSet>
      <dgm:spPr/>
    </dgm:pt>
  </dgm:ptLst>
  <dgm:cxnLst>
    <dgm:cxn modelId="{96CDF008-BD97-4B2C-9C42-8BD79C15DE07}" srcId="{E8ABEF48-3073-4BB2-ADA4-9BCCED413549}" destId="{95271F68-A6DE-42AA-AB68-353A4E3CCF39}" srcOrd="1" destOrd="0" parTransId="{61EDE04E-7013-4510-B249-36C53DB08D12}" sibTransId="{84D5013E-E7A5-4077-9347-D44BAD8A760A}"/>
    <dgm:cxn modelId="{8ED5FC1B-AB22-4EB1-9AB7-7DD1C90019E1}" type="presOf" srcId="{4FA3533D-E7F4-4CBB-9E19-6BB8396F6567}" destId="{9D8A9DB7-28A6-4341-B965-00ECB410A584}" srcOrd="1" destOrd="0" presId="urn:microsoft.com/office/officeart/2005/8/layout/lProcess2"/>
    <dgm:cxn modelId="{E6A1C320-A976-4672-A4EA-55F515AFBC60}" type="presOf" srcId="{95271F68-A6DE-42AA-AB68-353A4E3CCF39}" destId="{829C3DC5-7AAE-448B-A4FB-86FAE5FD7345}" srcOrd="0" destOrd="0" presId="urn:microsoft.com/office/officeart/2005/8/layout/lProcess2"/>
    <dgm:cxn modelId="{CE1E8D22-88C7-49E8-99AF-2D6392BE51B6}" type="presOf" srcId="{CC8D07EE-BDB7-4C5F-98B7-97B016888A09}" destId="{5E5F13B0-C2BE-48E5-9044-39016DADDE38}" srcOrd="0" destOrd="0" presId="urn:microsoft.com/office/officeart/2005/8/layout/lProcess2"/>
    <dgm:cxn modelId="{9C20E831-7A48-4F90-B781-7551273021DC}" srcId="{CC8D07EE-BDB7-4C5F-98B7-97B016888A09}" destId="{E2E7FC8B-060C-4F91-BD65-D840291D2B3E}" srcOrd="2" destOrd="0" parTransId="{49C07BD6-DCC2-4F9E-A113-6E2B77C35712}" sibTransId="{B2414236-BD73-4D33-8374-4CDAD0B9EEE0}"/>
    <dgm:cxn modelId="{ACA5DD3A-2F5B-4728-A4B6-1A63BB75FE77}" type="presOf" srcId="{E2E7FC8B-060C-4F91-BD65-D840291D2B3E}" destId="{D99EC2E6-0111-4138-BD49-2885BF3EE6C9}" srcOrd="1" destOrd="0" presId="urn:microsoft.com/office/officeart/2005/8/layout/lProcess2"/>
    <dgm:cxn modelId="{36E6963D-0FF0-4D39-BF20-7022FDFB2E29}" srcId="{4FA3533D-E7F4-4CBB-9E19-6BB8396F6567}" destId="{C7180994-3997-490E-A46C-F837FD88CB2A}" srcOrd="0" destOrd="0" parTransId="{7385FD10-8E8D-49E1-8C36-1081BF9C6791}" sibTransId="{F464F8E9-C618-4EDD-8B0F-BF478F9714B1}"/>
    <dgm:cxn modelId="{D77BFE5B-C0ED-4A43-A9C2-AD732451425F}" type="presOf" srcId="{E8ABEF48-3073-4BB2-ADA4-9BCCED413549}" destId="{FE790B75-A05C-4E4F-8F90-D8C05C6FF4D1}" srcOrd="0" destOrd="0" presId="urn:microsoft.com/office/officeart/2005/8/layout/lProcess2"/>
    <dgm:cxn modelId="{EF88BE5C-FEF6-480C-BF57-6B08979BC517}" type="presOf" srcId="{C7180994-3997-490E-A46C-F837FD88CB2A}" destId="{5975E473-CD0E-402F-850B-6B2CBE8D0394}" srcOrd="0" destOrd="0" presId="urn:microsoft.com/office/officeart/2005/8/layout/lProcess2"/>
    <dgm:cxn modelId="{A3D11143-C67C-4B08-AF63-E9A805647BC9}" srcId="{CC8D07EE-BDB7-4C5F-98B7-97B016888A09}" destId="{E8ABEF48-3073-4BB2-ADA4-9BCCED413549}" srcOrd="1" destOrd="0" parTransId="{F97F1249-5DD5-46B7-BB2E-0C283F008275}" sibTransId="{4FAE5573-B571-41D1-B312-1AF2A3494143}"/>
    <dgm:cxn modelId="{9B159964-44C2-4386-9159-55EC2AE09142}" type="presOf" srcId="{29214EFF-4640-4EAC-B542-3A405C8B48FA}" destId="{601C8D8A-D1E6-4C06-A394-8662442D60E3}" srcOrd="0" destOrd="0" presId="urn:microsoft.com/office/officeart/2005/8/layout/lProcess2"/>
    <dgm:cxn modelId="{418AF06A-AB1F-45E7-8CE4-AC27CB97B628}" srcId="{4FA3533D-E7F4-4CBB-9E19-6BB8396F6567}" destId="{903E4A72-1AA3-4FE9-90EE-223628636165}" srcOrd="1" destOrd="0" parTransId="{AA4B85FA-1719-44FF-9B2A-0D749C58DB88}" sibTransId="{8CD8831C-C6D1-47D2-B888-EEB390E4BBF9}"/>
    <dgm:cxn modelId="{AFD5E34B-0CD3-4358-92B6-DE2AB4446B08}" srcId="{E8ABEF48-3073-4BB2-ADA4-9BCCED413549}" destId="{4684BB0F-3726-4FE2-8DD5-58C6325D1DC4}" srcOrd="2" destOrd="0" parTransId="{B1ABB2FF-41F3-4B4B-A26C-5D0854FED527}" sibTransId="{E96AA08A-D34C-4C51-804B-DD2FA2E3430B}"/>
    <dgm:cxn modelId="{B64DEF50-FE73-42F1-8E22-3F8453AD1800}" type="presOf" srcId="{7638A667-FB73-4A6D-BFAB-77D018B05CF4}" destId="{D5C5BE1E-E902-4795-AD02-5B6E0F7C2DF4}" srcOrd="0" destOrd="0" presId="urn:microsoft.com/office/officeart/2005/8/layout/lProcess2"/>
    <dgm:cxn modelId="{0C8A9879-5FA8-4627-A258-EE9C241B2383}" srcId="{4FA3533D-E7F4-4CBB-9E19-6BB8396F6567}" destId="{BFBC8BB7-763D-41C0-87D7-35ED8198137B}" srcOrd="2" destOrd="0" parTransId="{20C6B28E-2CCE-466F-A8F6-32153A037C18}" sibTransId="{9BFBBE06-DC15-4B8D-84F8-82B56801DF13}"/>
    <dgm:cxn modelId="{5D6CBB7C-98A5-4455-B2E8-C82C132A776A}" type="presOf" srcId="{903E4A72-1AA3-4FE9-90EE-223628636165}" destId="{C4588EFB-333E-4E0B-B500-962451ABECB3}" srcOrd="0" destOrd="0" presId="urn:microsoft.com/office/officeart/2005/8/layout/lProcess2"/>
    <dgm:cxn modelId="{7A1B7D83-D215-4728-A544-02FB6712FD31}" srcId="{E2E7FC8B-060C-4F91-BD65-D840291D2B3E}" destId="{8E182B5E-AC4E-4339-BB79-A395499D2DAF}" srcOrd="0" destOrd="0" parTransId="{1FF5CA0A-5190-4FF1-BD2A-ED7F399989A1}" sibTransId="{DCC05B83-B6AE-4153-A759-AA94213CFE59}"/>
    <dgm:cxn modelId="{B7F4258D-CAE9-440C-8A45-7FDD0F7001EE}" type="presOf" srcId="{E2E7FC8B-060C-4F91-BD65-D840291D2B3E}" destId="{74755D2C-D2E7-49D7-953E-94E264916B14}" srcOrd="0" destOrd="0" presId="urn:microsoft.com/office/officeart/2005/8/layout/lProcess2"/>
    <dgm:cxn modelId="{DC6C4E95-F30C-4B0F-B91B-B12C42E9A366}" srcId="{E8ABEF48-3073-4BB2-ADA4-9BCCED413549}" destId="{7638A667-FB73-4A6D-BFAB-77D018B05CF4}" srcOrd="0" destOrd="0" parTransId="{8A07086A-38D7-4036-91FD-D189E298DFBC}" sibTransId="{0BCC5360-ADE5-4C9D-9C49-AF9C6638E2F6}"/>
    <dgm:cxn modelId="{417A129F-B3C2-474C-B0EF-B302BB01852C}" type="presOf" srcId="{4FA3533D-E7F4-4CBB-9E19-6BB8396F6567}" destId="{AD11D527-B702-4535-8FB0-F83B5746BA8B}" srcOrd="0" destOrd="0" presId="urn:microsoft.com/office/officeart/2005/8/layout/lProcess2"/>
    <dgm:cxn modelId="{409614A4-AE9D-402A-9F3B-C6D324ADAEA5}" type="presOf" srcId="{BFBC8BB7-763D-41C0-87D7-35ED8198137B}" destId="{2CF8870F-D42A-4F71-B3AE-60C348A83148}" srcOrd="0" destOrd="0" presId="urn:microsoft.com/office/officeart/2005/8/layout/lProcess2"/>
    <dgm:cxn modelId="{4FDA51B1-35A9-4438-91E3-25BB58D391CF}" srcId="{CC8D07EE-BDB7-4C5F-98B7-97B016888A09}" destId="{4FA3533D-E7F4-4CBB-9E19-6BB8396F6567}" srcOrd="0" destOrd="0" parTransId="{64307599-A5E8-4DD1-BAD1-2249F7E5A05D}" sibTransId="{6646A337-D439-4958-B315-91B7A545341F}"/>
    <dgm:cxn modelId="{BCDA71CB-B435-45AA-B59D-AE838E79B3CE}" type="presOf" srcId="{E8ABEF48-3073-4BB2-ADA4-9BCCED413549}" destId="{92A287CB-0BFA-4A08-874B-330367948041}" srcOrd="1" destOrd="0" presId="urn:microsoft.com/office/officeart/2005/8/layout/lProcess2"/>
    <dgm:cxn modelId="{DD2385EE-3F78-4983-B8DB-22E1094885C5}" type="presOf" srcId="{4684BB0F-3726-4FE2-8DD5-58C6325D1DC4}" destId="{F47CD9E7-A4DA-4330-A028-3812EC468BF2}" srcOrd="0" destOrd="0" presId="urn:microsoft.com/office/officeart/2005/8/layout/lProcess2"/>
    <dgm:cxn modelId="{510106EF-EECA-45F9-AF2E-D9D3F29E355C}" type="presOf" srcId="{8E182B5E-AC4E-4339-BB79-A395499D2DAF}" destId="{A563F8C0-E4CC-4B12-BEBC-C80E014D6311}" srcOrd="0" destOrd="0" presId="urn:microsoft.com/office/officeart/2005/8/layout/lProcess2"/>
    <dgm:cxn modelId="{64CB11F0-BC8A-4C06-AAD8-73F412215810}" srcId="{E2E7FC8B-060C-4F91-BD65-D840291D2B3E}" destId="{29214EFF-4640-4EAC-B542-3A405C8B48FA}" srcOrd="1" destOrd="0" parTransId="{21AA5E10-A234-47E6-ADB3-15551F3073C3}" sibTransId="{C772E000-A29D-4C63-9869-0E506683181F}"/>
    <dgm:cxn modelId="{05A406ED-D2C4-4885-B058-ECA0B106F5C2}" type="presParOf" srcId="{5E5F13B0-C2BE-48E5-9044-39016DADDE38}" destId="{63E5B9F7-195A-4772-95F5-763272AFB357}" srcOrd="0" destOrd="0" presId="urn:microsoft.com/office/officeart/2005/8/layout/lProcess2"/>
    <dgm:cxn modelId="{22F26BA1-1DD2-4B6D-B166-7FB08620D98D}" type="presParOf" srcId="{63E5B9F7-195A-4772-95F5-763272AFB357}" destId="{AD11D527-B702-4535-8FB0-F83B5746BA8B}" srcOrd="0" destOrd="0" presId="urn:microsoft.com/office/officeart/2005/8/layout/lProcess2"/>
    <dgm:cxn modelId="{1847B9E2-F364-4F37-9A2A-788B3942B4A5}" type="presParOf" srcId="{63E5B9F7-195A-4772-95F5-763272AFB357}" destId="{9D8A9DB7-28A6-4341-B965-00ECB410A584}" srcOrd="1" destOrd="0" presId="urn:microsoft.com/office/officeart/2005/8/layout/lProcess2"/>
    <dgm:cxn modelId="{3217313E-B066-4898-A58B-2F84F8597A04}" type="presParOf" srcId="{63E5B9F7-195A-4772-95F5-763272AFB357}" destId="{1DF8570A-2997-43D1-887A-4D583DFD076D}" srcOrd="2" destOrd="0" presId="urn:microsoft.com/office/officeart/2005/8/layout/lProcess2"/>
    <dgm:cxn modelId="{4C16D889-16A5-4E22-9BFC-E9E742044391}" type="presParOf" srcId="{1DF8570A-2997-43D1-887A-4D583DFD076D}" destId="{1DC1C317-0E27-41EE-83A7-D1B78378C3F5}" srcOrd="0" destOrd="0" presId="urn:microsoft.com/office/officeart/2005/8/layout/lProcess2"/>
    <dgm:cxn modelId="{DC5AE5F6-41E4-4F49-8928-58A4CA8EACF4}" type="presParOf" srcId="{1DC1C317-0E27-41EE-83A7-D1B78378C3F5}" destId="{5975E473-CD0E-402F-850B-6B2CBE8D0394}" srcOrd="0" destOrd="0" presId="urn:microsoft.com/office/officeart/2005/8/layout/lProcess2"/>
    <dgm:cxn modelId="{36258CE2-8FA4-4A3E-BDE3-1AF3A3E8CBB8}" type="presParOf" srcId="{1DC1C317-0E27-41EE-83A7-D1B78378C3F5}" destId="{B9FEFB0E-09A8-4CD1-BA94-6212F2CD5D57}" srcOrd="1" destOrd="0" presId="urn:microsoft.com/office/officeart/2005/8/layout/lProcess2"/>
    <dgm:cxn modelId="{CA481A48-D559-47EA-A1B3-4CEE5BD388B5}" type="presParOf" srcId="{1DC1C317-0E27-41EE-83A7-D1B78378C3F5}" destId="{C4588EFB-333E-4E0B-B500-962451ABECB3}" srcOrd="2" destOrd="0" presId="urn:microsoft.com/office/officeart/2005/8/layout/lProcess2"/>
    <dgm:cxn modelId="{462E433A-03F5-4766-9B30-CA9917F3E3A3}" type="presParOf" srcId="{1DC1C317-0E27-41EE-83A7-D1B78378C3F5}" destId="{2927798C-706A-43A1-8792-40C83CB42D8A}" srcOrd="3" destOrd="0" presId="urn:microsoft.com/office/officeart/2005/8/layout/lProcess2"/>
    <dgm:cxn modelId="{6A23096B-3DC3-4105-8397-BD47A509FC7A}" type="presParOf" srcId="{1DC1C317-0E27-41EE-83A7-D1B78378C3F5}" destId="{2CF8870F-D42A-4F71-B3AE-60C348A83148}" srcOrd="4" destOrd="0" presId="urn:microsoft.com/office/officeart/2005/8/layout/lProcess2"/>
    <dgm:cxn modelId="{49B78E76-1B98-43A0-A32A-C26CC74A5B4C}" type="presParOf" srcId="{5E5F13B0-C2BE-48E5-9044-39016DADDE38}" destId="{40F5080E-564F-41F9-B1EB-86D77C835ABA}" srcOrd="1" destOrd="0" presId="urn:microsoft.com/office/officeart/2005/8/layout/lProcess2"/>
    <dgm:cxn modelId="{97DCF915-BC22-4892-9139-D4F1CBBF419B}" type="presParOf" srcId="{5E5F13B0-C2BE-48E5-9044-39016DADDE38}" destId="{67E4C3B7-6422-492E-AF80-A9260A59570F}" srcOrd="2" destOrd="0" presId="urn:microsoft.com/office/officeart/2005/8/layout/lProcess2"/>
    <dgm:cxn modelId="{75C98603-0AE5-41A7-B9BC-2F3B9174E76F}" type="presParOf" srcId="{67E4C3B7-6422-492E-AF80-A9260A59570F}" destId="{FE790B75-A05C-4E4F-8F90-D8C05C6FF4D1}" srcOrd="0" destOrd="0" presId="urn:microsoft.com/office/officeart/2005/8/layout/lProcess2"/>
    <dgm:cxn modelId="{C8A230CF-2A0A-4A79-AAB0-8A7BD24D9E85}" type="presParOf" srcId="{67E4C3B7-6422-492E-AF80-A9260A59570F}" destId="{92A287CB-0BFA-4A08-874B-330367948041}" srcOrd="1" destOrd="0" presId="urn:microsoft.com/office/officeart/2005/8/layout/lProcess2"/>
    <dgm:cxn modelId="{44843CD4-EE2A-420D-9548-D11727CF4457}" type="presParOf" srcId="{67E4C3B7-6422-492E-AF80-A9260A59570F}" destId="{E7B82753-D759-4B13-950E-EA8E417EFE15}" srcOrd="2" destOrd="0" presId="urn:microsoft.com/office/officeart/2005/8/layout/lProcess2"/>
    <dgm:cxn modelId="{372253ED-3803-4562-A0AB-0087FDDA824A}" type="presParOf" srcId="{E7B82753-D759-4B13-950E-EA8E417EFE15}" destId="{71CD21F8-5F74-47DE-A5B4-9933689B70D0}" srcOrd="0" destOrd="0" presId="urn:microsoft.com/office/officeart/2005/8/layout/lProcess2"/>
    <dgm:cxn modelId="{D83CC8FF-FD03-4EC8-87D8-BC4A30A2DE6C}" type="presParOf" srcId="{71CD21F8-5F74-47DE-A5B4-9933689B70D0}" destId="{D5C5BE1E-E902-4795-AD02-5B6E0F7C2DF4}" srcOrd="0" destOrd="0" presId="urn:microsoft.com/office/officeart/2005/8/layout/lProcess2"/>
    <dgm:cxn modelId="{60F740C8-BA5A-4846-8305-73B5294C56E5}" type="presParOf" srcId="{71CD21F8-5F74-47DE-A5B4-9933689B70D0}" destId="{28B2A1AF-788D-4883-B598-E7D2F1CDBE5A}" srcOrd="1" destOrd="0" presId="urn:microsoft.com/office/officeart/2005/8/layout/lProcess2"/>
    <dgm:cxn modelId="{2981E9C0-090D-4F60-B916-234BCE9905CE}" type="presParOf" srcId="{71CD21F8-5F74-47DE-A5B4-9933689B70D0}" destId="{829C3DC5-7AAE-448B-A4FB-86FAE5FD7345}" srcOrd="2" destOrd="0" presId="urn:microsoft.com/office/officeart/2005/8/layout/lProcess2"/>
    <dgm:cxn modelId="{5F5F98C8-44AF-48AB-837D-5B2E971C8677}" type="presParOf" srcId="{71CD21F8-5F74-47DE-A5B4-9933689B70D0}" destId="{377E482E-7ABC-41EF-BD15-C48A0A6D42A7}" srcOrd="3" destOrd="0" presId="urn:microsoft.com/office/officeart/2005/8/layout/lProcess2"/>
    <dgm:cxn modelId="{2CB64419-BC86-4BDC-A377-E1C9C382B23D}" type="presParOf" srcId="{71CD21F8-5F74-47DE-A5B4-9933689B70D0}" destId="{F47CD9E7-A4DA-4330-A028-3812EC468BF2}" srcOrd="4" destOrd="0" presId="urn:microsoft.com/office/officeart/2005/8/layout/lProcess2"/>
    <dgm:cxn modelId="{2E8A98BA-1C61-4C26-8B55-7A6DCBECDB42}" type="presParOf" srcId="{5E5F13B0-C2BE-48E5-9044-39016DADDE38}" destId="{13D863D5-BD5D-476D-ACBF-C45732F1567A}" srcOrd="3" destOrd="0" presId="urn:microsoft.com/office/officeart/2005/8/layout/lProcess2"/>
    <dgm:cxn modelId="{F6F36332-FA6C-420E-A27A-E797DF8564ED}" type="presParOf" srcId="{5E5F13B0-C2BE-48E5-9044-39016DADDE38}" destId="{E6B312FC-D814-49D3-8E84-FEF1FCB2B028}" srcOrd="4" destOrd="0" presId="urn:microsoft.com/office/officeart/2005/8/layout/lProcess2"/>
    <dgm:cxn modelId="{96AAB1E1-6BB1-447A-88EC-10F3FB275A80}" type="presParOf" srcId="{E6B312FC-D814-49D3-8E84-FEF1FCB2B028}" destId="{74755D2C-D2E7-49D7-953E-94E264916B14}" srcOrd="0" destOrd="0" presId="urn:microsoft.com/office/officeart/2005/8/layout/lProcess2"/>
    <dgm:cxn modelId="{256C0A8E-0F2E-43A8-86A0-B1F6890C6EF9}" type="presParOf" srcId="{E6B312FC-D814-49D3-8E84-FEF1FCB2B028}" destId="{D99EC2E6-0111-4138-BD49-2885BF3EE6C9}" srcOrd="1" destOrd="0" presId="urn:microsoft.com/office/officeart/2005/8/layout/lProcess2"/>
    <dgm:cxn modelId="{D9821098-00BC-4AF7-AAE5-B7BBF2C5D266}" type="presParOf" srcId="{E6B312FC-D814-49D3-8E84-FEF1FCB2B028}" destId="{3C07548E-943C-4303-A759-379297AE01CC}" srcOrd="2" destOrd="0" presId="urn:microsoft.com/office/officeart/2005/8/layout/lProcess2"/>
    <dgm:cxn modelId="{4A027890-FC55-4706-8CBC-1C799D6B1F84}" type="presParOf" srcId="{3C07548E-943C-4303-A759-379297AE01CC}" destId="{231809AF-C14B-4C82-913A-E4B1FB972328}" srcOrd="0" destOrd="0" presId="urn:microsoft.com/office/officeart/2005/8/layout/lProcess2"/>
    <dgm:cxn modelId="{62359FD7-872F-4351-9D9C-B3D45373FFB2}" type="presParOf" srcId="{231809AF-C14B-4C82-913A-E4B1FB972328}" destId="{A563F8C0-E4CC-4B12-BEBC-C80E014D6311}" srcOrd="0" destOrd="0" presId="urn:microsoft.com/office/officeart/2005/8/layout/lProcess2"/>
    <dgm:cxn modelId="{0A0A5EA0-0651-4EF5-A073-3737922DE7F1}" type="presParOf" srcId="{231809AF-C14B-4C82-913A-E4B1FB972328}" destId="{C1F8F360-DF16-4532-B457-6353D42A210E}" srcOrd="1" destOrd="0" presId="urn:microsoft.com/office/officeart/2005/8/layout/lProcess2"/>
    <dgm:cxn modelId="{D30B0143-552B-4274-8995-D9D6EEDBF016}" type="presParOf" srcId="{231809AF-C14B-4C82-913A-E4B1FB972328}" destId="{601C8D8A-D1E6-4C06-A394-8662442D60E3}" srcOrd="2" destOrd="0" presId="urn:microsoft.com/office/officeart/2005/8/layout/lProcess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D11D527-B702-4535-8FB0-F83B5746BA8B}">
      <dsp:nvSpPr>
        <dsp:cNvPr id="0" name=""/>
        <dsp:cNvSpPr/>
      </dsp:nvSpPr>
      <dsp:spPr>
        <a:xfrm>
          <a:off x="1186" y="0"/>
          <a:ext cx="3084984" cy="5033726"/>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n-GB" sz="2500" b="1" kern="1200"/>
            <a:t>Immediate Operational Control </a:t>
          </a:r>
        </a:p>
        <a:p>
          <a:pPr marL="0" lvl="0" indent="0" algn="ctr" defTabSz="1111250">
            <a:lnSpc>
              <a:spcPct val="90000"/>
            </a:lnSpc>
            <a:spcBef>
              <a:spcPct val="0"/>
            </a:spcBef>
            <a:spcAft>
              <a:spcPct val="35000"/>
            </a:spcAft>
            <a:buNone/>
          </a:pPr>
          <a:r>
            <a:rPr lang="en-GB" sz="2500" b="1" kern="1200"/>
            <a:t>(Weeks 1–2)</a:t>
          </a:r>
          <a:endParaRPr lang="en-GB" sz="2500" kern="1200"/>
        </a:p>
      </dsp:txBody>
      <dsp:txXfrm>
        <a:off x="1186" y="0"/>
        <a:ext cx="3084984" cy="1510117"/>
      </dsp:txXfrm>
    </dsp:sp>
    <dsp:sp modelId="{5975E473-CD0E-402F-850B-6B2CBE8D0394}">
      <dsp:nvSpPr>
        <dsp:cNvPr id="0" name=""/>
        <dsp:cNvSpPr/>
      </dsp:nvSpPr>
      <dsp:spPr>
        <a:xfrm>
          <a:off x="309684" y="1510547"/>
          <a:ext cx="2467987" cy="988925"/>
        </a:xfrm>
        <a:prstGeom prst="roundRect">
          <a:avLst>
            <a:gd name="adj" fmla="val 10000"/>
          </a:avLst>
        </a:prstGeom>
        <a:solidFill>
          <a:schemeClr val="lt1">
            <a:hueOff val="0"/>
            <a:satOff val="0"/>
            <a:lumOff val="0"/>
            <a:alphaOff val="0"/>
          </a:schemeClr>
        </a:solidFill>
        <a:ln w="15875" cap="flat" cmpd="sng" algn="ctr">
          <a:solidFill>
            <a:schemeClr val="accent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19050" rIns="25400" bIns="19050" numCol="1" spcCol="1270" anchor="ctr" anchorCtr="0">
          <a:noAutofit/>
        </a:bodyPr>
        <a:lstStyle/>
        <a:p>
          <a:pPr marL="0" lvl="0" indent="0" algn="ctr" defTabSz="444500">
            <a:lnSpc>
              <a:spcPct val="90000"/>
            </a:lnSpc>
            <a:spcBef>
              <a:spcPct val="0"/>
            </a:spcBef>
            <a:spcAft>
              <a:spcPct val="35000"/>
            </a:spcAft>
            <a:buNone/>
          </a:pPr>
          <a:r>
            <a:rPr lang="en-GB" sz="1000" b="1" kern="1200"/>
            <a:t>Print &amp; Place Checklists:</a:t>
          </a:r>
          <a:r>
            <a:rPr lang="en-GB" sz="1000" kern="1200"/>
            <a:t> Bind and place the Daily Pre-Start Checklists directly inside the tractor cabin box. </a:t>
          </a:r>
        </a:p>
        <a:p>
          <a:pPr marL="0" lvl="0" indent="0" algn="ctr" defTabSz="444500">
            <a:lnSpc>
              <a:spcPct val="90000"/>
            </a:lnSpc>
            <a:spcBef>
              <a:spcPct val="0"/>
            </a:spcBef>
            <a:spcAft>
              <a:spcPct val="35000"/>
            </a:spcAft>
            <a:buNone/>
          </a:pPr>
          <a:r>
            <a:rPr lang="en-GB" sz="1000" kern="1200"/>
            <a:t>[Draft checklists here: </a:t>
          </a:r>
          <a:r>
            <a:rPr lang="en-GB" sz="1000" kern="1200">
              <a:hlinkClick xmlns:r="http://schemas.openxmlformats.org/officeDocument/2006/relationships" r:id="rId1"/>
            </a:rPr>
            <a:t>Checklists.docx</a:t>
          </a:r>
          <a:r>
            <a:rPr lang="en-GB" sz="1000" kern="1200"/>
            <a:t>]</a:t>
          </a:r>
        </a:p>
      </dsp:txBody>
      <dsp:txXfrm>
        <a:off x="338649" y="1539512"/>
        <a:ext cx="2410057" cy="930995"/>
      </dsp:txXfrm>
    </dsp:sp>
    <dsp:sp modelId="{C4588EFB-333E-4E0B-B500-962451ABECB3}">
      <dsp:nvSpPr>
        <dsp:cNvPr id="0" name=""/>
        <dsp:cNvSpPr/>
      </dsp:nvSpPr>
      <dsp:spPr>
        <a:xfrm>
          <a:off x="309684" y="2651615"/>
          <a:ext cx="2467987" cy="988925"/>
        </a:xfrm>
        <a:prstGeom prst="roundRect">
          <a:avLst>
            <a:gd name="adj" fmla="val 10000"/>
          </a:avLst>
        </a:prstGeom>
        <a:solidFill>
          <a:schemeClr val="lt1">
            <a:hueOff val="0"/>
            <a:satOff val="0"/>
            <a:lumOff val="0"/>
            <a:alphaOff val="0"/>
          </a:schemeClr>
        </a:solidFill>
        <a:ln w="15875" cap="flat" cmpd="sng" algn="ctr">
          <a:solidFill>
            <a:schemeClr val="accent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19050" rIns="25400" bIns="19050" numCol="1" spcCol="1270" anchor="ctr" anchorCtr="0">
          <a:noAutofit/>
        </a:bodyPr>
        <a:lstStyle/>
        <a:p>
          <a:pPr marL="0" lvl="0" indent="0" algn="ctr" defTabSz="444500">
            <a:lnSpc>
              <a:spcPct val="90000"/>
            </a:lnSpc>
            <a:spcBef>
              <a:spcPct val="0"/>
            </a:spcBef>
            <a:spcAft>
              <a:spcPct val="35000"/>
            </a:spcAft>
            <a:buNone/>
          </a:pPr>
          <a:r>
            <a:rPr lang="en-GB" sz="1000" b="1" kern="1200"/>
            <a:t>Slasher Retrofit:</a:t>
          </a:r>
          <a:r>
            <a:rPr lang="en-GB" sz="1000" kern="1200"/>
            <a:t> Purchase and install heavy-duty, puncture-proof trailing caster wheels onto the Falcon slasher deck to establish the mandatory 2–3 cm ground clearance gap.</a:t>
          </a:r>
        </a:p>
      </dsp:txBody>
      <dsp:txXfrm>
        <a:off x="338649" y="2680580"/>
        <a:ext cx="2410057" cy="930995"/>
      </dsp:txXfrm>
    </dsp:sp>
    <dsp:sp modelId="{2CF8870F-D42A-4F71-B3AE-60C348A83148}">
      <dsp:nvSpPr>
        <dsp:cNvPr id="0" name=""/>
        <dsp:cNvSpPr/>
      </dsp:nvSpPr>
      <dsp:spPr>
        <a:xfrm>
          <a:off x="309684" y="3792683"/>
          <a:ext cx="2467987" cy="988925"/>
        </a:xfrm>
        <a:prstGeom prst="roundRect">
          <a:avLst>
            <a:gd name="adj" fmla="val 10000"/>
          </a:avLst>
        </a:prstGeom>
        <a:solidFill>
          <a:schemeClr val="lt1">
            <a:hueOff val="0"/>
            <a:satOff val="0"/>
            <a:lumOff val="0"/>
            <a:alphaOff val="0"/>
          </a:schemeClr>
        </a:solidFill>
        <a:ln w="15875" cap="flat" cmpd="sng" algn="ctr">
          <a:solidFill>
            <a:schemeClr val="accent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19050" rIns="25400" bIns="19050" numCol="1" spcCol="1270" anchor="ctr" anchorCtr="0">
          <a:noAutofit/>
        </a:bodyPr>
        <a:lstStyle/>
        <a:p>
          <a:pPr marL="0" lvl="0" indent="0" algn="ctr" defTabSz="444500">
            <a:lnSpc>
              <a:spcPct val="90000"/>
            </a:lnSpc>
            <a:spcBef>
              <a:spcPct val="0"/>
            </a:spcBef>
            <a:spcAft>
              <a:spcPct val="35000"/>
            </a:spcAft>
            <a:buNone/>
          </a:pPr>
          <a:r>
            <a:rPr lang="en-GB" sz="1000" b="1" kern="1200"/>
            <a:t>Establish Digital Influx:</a:t>
          </a:r>
          <a:r>
            <a:rPr lang="en-GB" sz="1000" kern="1200"/>
            <a:t> Generate the cloud folder upload QR code sticker and mount it directly onto the tractor dashboard for supervisor shift-end photo submissions.</a:t>
          </a:r>
        </a:p>
      </dsp:txBody>
      <dsp:txXfrm>
        <a:off x="338649" y="3821648"/>
        <a:ext cx="2410057" cy="930995"/>
      </dsp:txXfrm>
    </dsp:sp>
    <dsp:sp modelId="{FE790B75-A05C-4E4F-8F90-D8C05C6FF4D1}">
      <dsp:nvSpPr>
        <dsp:cNvPr id="0" name=""/>
        <dsp:cNvSpPr/>
      </dsp:nvSpPr>
      <dsp:spPr>
        <a:xfrm>
          <a:off x="3317544" y="0"/>
          <a:ext cx="3084984" cy="5033726"/>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n-GB" sz="2500" b="1" kern="1200"/>
            <a:t>Driver Accountability &amp; Enforcement </a:t>
          </a:r>
        </a:p>
        <a:p>
          <a:pPr marL="0" lvl="0" indent="0" algn="ctr" defTabSz="1111250">
            <a:lnSpc>
              <a:spcPct val="90000"/>
            </a:lnSpc>
            <a:spcBef>
              <a:spcPct val="0"/>
            </a:spcBef>
            <a:spcAft>
              <a:spcPct val="35000"/>
            </a:spcAft>
            <a:buNone/>
          </a:pPr>
          <a:r>
            <a:rPr lang="en-GB" sz="2500" b="1" kern="1200"/>
            <a:t>(Weeks 3–4)</a:t>
          </a:r>
          <a:endParaRPr lang="en-GB" sz="2500" kern="1200"/>
        </a:p>
      </dsp:txBody>
      <dsp:txXfrm>
        <a:off x="3317544" y="0"/>
        <a:ext cx="3084984" cy="1510117"/>
      </dsp:txXfrm>
    </dsp:sp>
    <dsp:sp modelId="{D5C5BE1E-E902-4795-AD02-5B6E0F7C2DF4}">
      <dsp:nvSpPr>
        <dsp:cNvPr id="0" name=""/>
        <dsp:cNvSpPr/>
      </dsp:nvSpPr>
      <dsp:spPr>
        <a:xfrm>
          <a:off x="3626042" y="1510547"/>
          <a:ext cx="2467987" cy="988925"/>
        </a:xfrm>
        <a:prstGeom prst="roundRect">
          <a:avLst>
            <a:gd name="adj" fmla="val 10000"/>
          </a:avLst>
        </a:prstGeom>
        <a:solidFill>
          <a:schemeClr val="lt1">
            <a:hueOff val="0"/>
            <a:satOff val="0"/>
            <a:lumOff val="0"/>
            <a:alphaOff val="0"/>
          </a:schemeClr>
        </a:solidFill>
        <a:ln w="15875" cap="flat" cmpd="sng" algn="ctr">
          <a:solidFill>
            <a:schemeClr val="accent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19050" rIns="25400" bIns="19050" numCol="1" spcCol="1270" anchor="ctr" anchorCtr="0">
          <a:noAutofit/>
        </a:bodyPr>
        <a:lstStyle/>
        <a:p>
          <a:pPr marL="0" lvl="0" indent="0" algn="ctr" defTabSz="444500">
            <a:lnSpc>
              <a:spcPct val="90000"/>
            </a:lnSpc>
            <a:spcBef>
              <a:spcPct val="0"/>
            </a:spcBef>
            <a:spcAft>
              <a:spcPct val="35000"/>
            </a:spcAft>
            <a:buNone/>
          </a:pPr>
          <a:r>
            <a:rPr lang="en-GB" sz="1000" b="1" kern="1200"/>
            <a:t>Practical Retraining:</a:t>
          </a:r>
          <a:r>
            <a:rPr lang="en-GB" sz="1000" kern="1200"/>
            <a:t> Conduct an on-site practical session for all estate drivers focusing strictly on Low-Range gear selection (L1–L3) and the "foot completely off the clutch" mandate.</a:t>
          </a:r>
          <a:br>
            <a:rPr lang="en-GB" sz="1000" kern="1200"/>
          </a:br>
          <a:r>
            <a:rPr lang="en-GB" sz="1000" kern="1200"/>
            <a:t>[Training Material here: </a:t>
          </a:r>
          <a:r>
            <a:rPr lang="en-GB" sz="1000" kern="1200">
              <a:hlinkClick xmlns:r="http://schemas.openxmlformats.org/officeDocument/2006/relationships" r:id="rId2"/>
            </a:rPr>
            <a:t>Tractor Training.pptx</a:t>
          </a:r>
          <a:r>
            <a:rPr lang="en-GB" sz="1000" kern="1200"/>
            <a:t>]</a:t>
          </a:r>
        </a:p>
      </dsp:txBody>
      <dsp:txXfrm>
        <a:off x="3655007" y="1539512"/>
        <a:ext cx="2410057" cy="930995"/>
      </dsp:txXfrm>
    </dsp:sp>
    <dsp:sp modelId="{829C3DC5-7AAE-448B-A4FB-86FAE5FD7345}">
      <dsp:nvSpPr>
        <dsp:cNvPr id="0" name=""/>
        <dsp:cNvSpPr/>
      </dsp:nvSpPr>
      <dsp:spPr>
        <a:xfrm>
          <a:off x="3626042" y="2651615"/>
          <a:ext cx="2467987" cy="988925"/>
        </a:xfrm>
        <a:prstGeom prst="roundRect">
          <a:avLst>
            <a:gd name="adj" fmla="val 10000"/>
          </a:avLst>
        </a:prstGeom>
        <a:solidFill>
          <a:schemeClr val="lt1">
            <a:hueOff val="0"/>
            <a:satOff val="0"/>
            <a:lumOff val="0"/>
            <a:alphaOff val="0"/>
          </a:schemeClr>
        </a:solidFill>
        <a:ln w="15875" cap="flat" cmpd="sng" algn="ctr">
          <a:solidFill>
            <a:schemeClr val="accent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19050" rIns="25400" bIns="19050" numCol="1" spcCol="1270" anchor="ctr" anchorCtr="0">
          <a:noAutofit/>
        </a:bodyPr>
        <a:lstStyle/>
        <a:p>
          <a:pPr marL="0" lvl="0" indent="0" algn="ctr" defTabSz="444500">
            <a:lnSpc>
              <a:spcPct val="90000"/>
            </a:lnSpc>
            <a:spcBef>
              <a:spcPct val="0"/>
            </a:spcBef>
            <a:spcAft>
              <a:spcPct val="35000"/>
            </a:spcAft>
            <a:buNone/>
          </a:pPr>
          <a:r>
            <a:rPr lang="en-GB" sz="1000" b="1" kern="1200"/>
            <a:t>Signed Accountability:</a:t>
          </a:r>
          <a:r>
            <a:rPr lang="en-GB" sz="1000" kern="1200"/>
            <a:t> Secure signed declarations from every operator confirming their understanding of the new speed modulation rules and the disciplinary consequences of clutch riding.</a:t>
          </a:r>
        </a:p>
      </dsp:txBody>
      <dsp:txXfrm>
        <a:off x="3655007" y="2680580"/>
        <a:ext cx="2410057" cy="930995"/>
      </dsp:txXfrm>
    </dsp:sp>
    <dsp:sp modelId="{F47CD9E7-A4DA-4330-A028-3812EC468BF2}">
      <dsp:nvSpPr>
        <dsp:cNvPr id="0" name=""/>
        <dsp:cNvSpPr/>
      </dsp:nvSpPr>
      <dsp:spPr>
        <a:xfrm>
          <a:off x="3626042" y="3792683"/>
          <a:ext cx="2467987" cy="988925"/>
        </a:xfrm>
        <a:prstGeom prst="roundRect">
          <a:avLst>
            <a:gd name="adj" fmla="val 10000"/>
          </a:avLst>
        </a:prstGeom>
        <a:solidFill>
          <a:schemeClr val="lt1">
            <a:hueOff val="0"/>
            <a:satOff val="0"/>
            <a:lumOff val="0"/>
            <a:alphaOff val="0"/>
          </a:schemeClr>
        </a:solidFill>
        <a:ln w="15875" cap="flat" cmpd="sng" algn="ctr">
          <a:solidFill>
            <a:schemeClr val="accent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19050" rIns="25400" bIns="19050" numCol="1" spcCol="1270" anchor="ctr" anchorCtr="0">
          <a:noAutofit/>
        </a:bodyPr>
        <a:lstStyle/>
        <a:p>
          <a:pPr marL="0" lvl="0" indent="0" algn="ctr" defTabSz="444500">
            <a:lnSpc>
              <a:spcPct val="90000"/>
            </a:lnSpc>
            <a:spcBef>
              <a:spcPct val="0"/>
            </a:spcBef>
            <a:spcAft>
              <a:spcPct val="35000"/>
            </a:spcAft>
            <a:buNone/>
          </a:pPr>
          <a:r>
            <a:rPr lang="en-GB" sz="1000" b="1" kern="1200"/>
            <a:t>Launch Field Audits:</a:t>
          </a:r>
          <a:r>
            <a:rPr lang="en-GB" sz="1000" kern="1200"/>
            <a:t> Begin unannounced monthly Field Operator Verification Audits to actively police field compliance.</a:t>
          </a:r>
        </a:p>
      </dsp:txBody>
      <dsp:txXfrm>
        <a:off x="3655007" y="3821648"/>
        <a:ext cx="2410057" cy="930995"/>
      </dsp:txXfrm>
    </dsp:sp>
    <dsp:sp modelId="{74755D2C-D2E7-49D7-953E-94E264916B14}">
      <dsp:nvSpPr>
        <dsp:cNvPr id="0" name=""/>
        <dsp:cNvSpPr/>
      </dsp:nvSpPr>
      <dsp:spPr>
        <a:xfrm>
          <a:off x="6633902" y="0"/>
          <a:ext cx="3084984" cy="5033726"/>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n-GB" sz="2500" b="1" kern="1200"/>
            <a:t>Strategic Capital Management </a:t>
          </a:r>
        </a:p>
        <a:p>
          <a:pPr marL="0" lvl="0" indent="0" algn="ctr" defTabSz="1111250">
            <a:lnSpc>
              <a:spcPct val="90000"/>
            </a:lnSpc>
            <a:spcBef>
              <a:spcPct val="0"/>
            </a:spcBef>
            <a:spcAft>
              <a:spcPct val="35000"/>
            </a:spcAft>
            <a:buNone/>
          </a:pPr>
          <a:r>
            <a:rPr lang="en-GB" sz="2500" b="1" kern="1200"/>
            <a:t>(Month 2 Onwards)</a:t>
          </a:r>
          <a:endParaRPr lang="en-GB" sz="2500" kern="1200"/>
        </a:p>
      </dsp:txBody>
      <dsp:txXfrm>
        <a:off x="6633902" y="0"/>
        <a:ext cx="3084984" cy="1510117"/>
      </dsp:txXfrm>
    </dsp:sp>
    <dsp:sp modelId="{A563F8C0-E4CC-4B12-BEBC-C80E014D6311}">
      <dsp:nvSpPr>
        <dsp:cNvPr id="0" name=""/>
        <dsp:cNvSpPr/>
      </dsp:nvSpPr>
      <dsp:spPr>
        <a:xfrm>
          <a:off x="6942400" y="1511592"/>
          <a:ext cx="2467987" cy="1517737"/>
        </a:xfrm>
        <a:prstGeom prst="roundRect">
          <a:avLst>
            <a:gd name="adj" fmla="val 10000"/>
          </a:avLst>
        </a:prstGeom>
        <a:solidFill>
          <a:schemeClr val="lt1">
            <a:hueOff val="0"/>
            <a:satOff val="0"/>
            <a:lumOff val="0"/>
            <a:alphaOff val="0"/>
          </a:schemeClr>
        </a:solidFill>
        <a:ln w="15875" cap="flat" cmpd="sng" algn="ctr">
          <a:solidFill>
            <a:schemeClr val="accent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19050" rIns="25400" bIns="19050" numCol="1" spcCol="1270" anchor="ctr" anchorCtr="0">
          <a:noAutofit/>
        </a:bodyPr>
        <a:lstStyle/>
        <a:p>
          <a:pPr marL="0" lvl="0" indent="0" algn="ctr" defTabSz="444500">
            <a:lnSpc>
              <a:spcPct val="90000"/>
            </a:lnSpc>
            <a:spcBef>
              <a:spcPct val="0"/>
            </a:spcBef>
            <a:spcAft>
              <a:spcPct val="35000"/>
            </a:spcAft>
            <a:buNone/>
          </a:pPr>
          <a:r>
            <a:rPr lang="en-GB" sz="1000" b="1" kern="1200"/>
            <a:t>Formulate the ELR Policy:</a:t>
          </a:r>
          <a:r>
            <a:rPr lang="en-GB" sz="1000" kern="1200"/>
            <a:t> Present the formal Economic Limit of Repair framework to the estate board for official sign-off to codify the 30% single-estimate and 50% cumulative-expenditure boundaries.</a:t>
          </a:r>
        </a:p>
      </dsp:txBody>
      <dsp:txXfrm>
        <a:off x="6986853" y="1556045"/>
        <a:ext cx="2379081" cy="1428831"/>
      </dsp:txXfrm>
    </dsp:sp>
    <dsp:sp modelId="{601C8D8A-D1E6-4C06-A394-8662442D60E3}">
      <dsp:nvSpPr>
        <dsp:cNvPr id="0" name=""/>
        <dsp:cNvSpPr/>
      </dsp:nvSpPr>
      <dsp:spPr>
        <a:xfrm>
          <a:off x="6942400" y="3262827"/>
          <a:ext cx="2467987" cy="1517737"/>
        </a:xfrm>
        <a:prstGeom prst="roundRect">
          <a:avLst>
            <a:gd name="adj" fmla="val 10000"/>
          </a:avLst>
        </a:prstGeom>
        <a:solidFill>
          <a:schemeClr val="lt1">
            <a:hueOff val="0"/>
            <a:satOff val="0"/>
            <a:lumOff val="0"/>
            <a:alphaOff val="0"/>
          </a:schemeClr>
        </a:solidFill>
        <a:ln w="15875" cap="flat" cmpd="sng" algn="ctr">
          <a:solidFill>
            <a:schemeClr val="accent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19050" rIns="25400" bIns="19050" numCol="1" spcCol="1270" anchor="ctr" anchorCtr="0">
          <a:noAutofit/>
        </a:bodyPr>
        <a:lstStyle/>
        <a:p>
          <a:pPr marL="0" lvl="0" indent="0" algn="ctr" defTabSz="444500">
            <a:lnSpc>
              <a:spcPct val="90000"/>
            </a:lnSpc>
            <a:spcBef>
              <a:spcPct val="0"/>
            </a:spcBef>
            <a:spcAft>
              <a:spcPct val="35000"/>
            </a:spcAft>
            <a:buNone/>
          </a:pPr>
          <a:r>
            <a:rPr lang="en-GB" sz="1000" b="1" kern="1200"/>
            <a:t>Procurement Review:</a:t>
          </a:r>
          <a:r>
            <a:rPr lang="en-GB" sz="1000" kern="1200"/>
            <a:t> Initiate a market analysis for next-generation estate support vehicles featuring Hydrostatic or Power Shuttle transmissions to future-proof upcoming capital procurement cycles.</a:t>
          </a:r>
        </a:p>
      </dsp:txBody>
      <dsp:txXfrm>
        <a:off x="6986853" y="3307280"/>
        <a:ext cx="2379081" cy="1428831"/>
      </dsp:txXfrm>
    </dsp:sp>
  </dsp:spTree>
</dsp:drawing>
</file>

<file path=ppt/diagrams/layout1.xml><?xml version="1.0" encoding="utf-8"?>
<dgm:layoutDef xmlns:dgm="http://schemas.openxmlformats.org/drawingml/2006/diagram" xmlns:a="http://schemas.openxmlformats.org/drawingml/2006/main" uniqueId="urn:microsoft.com/office/officeart/2005/8/layout/lProcess2">
  <dgm:title val=""/>
  <dgm:desc val=""/>
  <dgm:catLst>
    <dgm:cat type="list" pri="10000"/>
    <dgm:cat type="relationship" pri="13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useDef="1">
    <dgm:dataModel>
      <dgm:ptLst/>
      <dgm:bg/>
      <dgm:whole/>
    </dgm:dataModel>
  </dgm:styleData>
  <dgm:clrData useDef="1">
    <dgm:dataModel>
      <dgm:ptLst/>
      <dgm:bg/>
      <dgm:whole/>
    </dgm:dataModel>
  </dgm:clrData>
  <dgm:layoutNode name="theList">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forName="aSpace" refType="w" fact="0.075"/>
      <dgm:constr type="h" for="des" forName="aSpace2" refType="h" fact="0.1"/>
      <dgm:constr type="primFontSz" for="des" forName="textNode" op="equ"/>
      <dgm:constr type="primFontSz" for="des" forName="childNode" op="equ"/>
    </dgm:constrLst>
    <dgm:ruleLst/>
    <dgm:forEach name="aNodeForEach" axis="ch" ptType="node">
      <dgm:layoutNode name="compNode">
        <dgm:alg type="composite"/>
        <dgm:shape xmlns:r="http://schemas.openxmlformats.org/officeDocument/2006/relationships" r:blip="">
          <dgm:adjLst/>
        </dgm:shape>
        <dgm:presOf/>
        <dgm:constrLst>
          <dgm:constr type="w" for="ch" forName="aNode" refType="w"/>
          <dgm:constr type="h" for="ch" forName="aNode" refType="h"/>
          <dgm:constr type="w" for="ch" forName="textNode" refType="w"/>
          <dgm:constr type="h" for="ch" forName="textNode" refType="h" fact="0.3"/>
          <dgm:constr type="ctrX" for="ch" forName="textNode" refType="w" fact="0.5"/>
          <dgm:constr type="w" for="ch" forName="compChildNode" refType="w" fact="0.8"/>
          <dgm:constr type="h" for="ch" forName="compChildNode" refType="h" fact="0.65"/>
          <dgm:constr type="t" for="ch" forName="compChildNode" refType="h" fact="0.3"/>
          <dgm:constr type="ctrX" for="ch" forName="compChildNode" refType="w" fact="0.5"/>
        </dgm:constrLst>
        <dgm:ruleLst/>
        <dgm:layoutNode name="aNode" styleLbl="bgShp">
          <dgm:alg type="sp"/>
          <dgm:shape xmlns:r="http://schemas.openxmlformats.org/officeDocument/2006/relationships" type="roundRect" r:blip="">
            <dgm:adjLst>
              <dgm:adj idx="1" val="0.1"/>
            </dgm:adjLst>
          </dgm:shape>
          <dgm:presOf axis="self"/>
          <dgm:constrLst/>
          <dgm:ruleLst/>
        </dgm:layoutNode>
        <dgm:layoutNode name="textNode" styleLbl="bgShp">
          <dgm:alg type="tx"/>
          <dgm:shape xmlns:r="http://schemas.openxmlformats.org/officeDocument/2006/relationships" type="rect" r:blip="" hideGeom="1">
            <dgm:adjLst>
              <dgm:adj idx="1" val="0.1"/>
            </dgm:adjLst>
          </dgm:shape>
          <dgm:presOf axis="self"/>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compChildNode">
          <dgm:alg type="composite"/>
          <dgm:shape xmlns:r="http://schemas.openxmlformats.org/officeDocument/2006/relationships" r:blip="">
            <dgm:adjLst/>
          </dgm:shape>
          <dgm:presOf/>
          <dgm:constrLst>
            <dgm:constr type="w" for="des" forName="childNode" refType="w"/>
            <dgm:constr type="h" for="des" forName="childNode" refType="h"/>
          </dgm:constrLst>
          <dgm:ruleLst/>
          <dgm:layoutNode name="theInnerList">
            <dgm:alg type="lin">
              <dgm:param type="linDir" val="fromT"/>
            </dgm:alg>
            <dgm:shape xmlns:r="http://schemas.openxmlformats.org/officeDocument/2006/relationships" r:blip="">
              <dgm:adjLst/>
            </dgm:shape>
            <dgm:presOf/>
            <dgm:constrLst/>
            <dgm:ruleLst/>
            <dgm:forEach name="childNodeForEach" axis="ch" ptType="node">
              <dgm:layoutNode name="child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tMarg" refType="primFontSz" fact="0.15"/>
                  <dgm:constr type="bMarg" refType="primFontSz" fact="0.15"/>
                  <dgm:constr type="lMarg" refType="primFontSz" fact="0.2"/>
                  <dgm:constr type="rMarg" refType="primFontSz" fact="0.2"/>
                </dgm:constrLst>
                <dgm:ruleLst>
                  <dgm:rule type="primFontSz" val="5" fact="NaN" max="NaN"/>
                </dgm:ruleLst>
              </dgm:layoutNode>
              <dgm:choose name="Name3">
                <dgm:if name="Name4" axis="self" ptType="node" func="revPos" op="equ" val="1"/>
                <dgm:else name="Name5">
                  <dgm:layoutNode name="aSpace2">
                    <dgm:alg type="sp"/>
                    <dgm:shape xmlns:r="http://schemas.openxmlformats.org/officeDocument/2006/relationships" r:blip="">
                      <dgm:adjLst/>
                    </dgm:shape>
                    <dgm:presOf/>
                    <dgm:constrLst/>
                    <dgm:ruleLst/>
                  </dgm:layoutNode>
                </dgm:else>
              </dgm:choose>
            </dgm:forEach>
          </dgm:layoutNode>
        </dgm:layoutNode>
      </dgm:layoutNode>
      <dgm:choose name="Name6">
        <dgm:if name="Name7" axis="self" ptType="node" func="revPos" op="equ" val="1"/>
        <dgm:else name="Name8">
          <dgm:layoutNode name="aSpace">
            <dgm:alg type="sp"/>
            <dgm:shape xmlns:r="http://schemas.openxmlformats.org/officeDocument/2006/relationships" r:blip="">
              <dgm:adjLst/>
            </dgm:shape>
            <dgm:presOf/>
            <dgm:constrLst/>
            <dgm:ruleLst/>
          </dgm:layoutNod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3078427" cy="513508"/>
          </a:xfrm>
          <a:prstGeom prst="rect">
            <a:avLst/>
          </a:prstGeom>
        </p:spPr>
        <p:txBody>
          <a:bodyPr vert="horz" lIns="99065" tIns="49532" rIns="99065" bIns="49532" rtlCol="0"/>
          <a:lstStyle>
            <a:lvl1pPr algn="l">
              <a:defRPr sz="1300"/>
            </a:lvl1pPr>
          </a:lstStyle>
          <a:p>
            <a:endParaRPr lang="en-GB"/>
          </a:p>
        </p:txBody>
      </p:sp>
      <p:sp>
        <p:nvSpPr>
          <p:cNvPr id="3" name="Date Placeholder 2"/>
          <p:cNvSpPr>
            <a:spLocks noGrp="1"/>
          </p:cNvSpPr>
          <p:nvPr>
            <p:ph type="dt" idx="1"/>
          </p:nvPr>
        </p:nvSpPr>
        <p:spPr>
          <a:xfrm>
            <a:off x="4023993" y="0"/>
            <a:ext cx="3078427" cy="513508"/>
          </a:xfrm>
          <a:prstGeom prst="rect">
            <a:avLst/>
          </a:prstGeom>
        </p:spPr>
        <p:txBody>
          <a:bodyPr vert="horz" lIns="99065" tIns="49532" rIns="99065" bIns="49532" rtlCol="0"/>
          <a:lstStyle>
            <a:lvl1pPr algn="r">
              <a:defRPr sz="1300"/>
            </a:lvl1pPr>
          </a:lstStyle>
          <a:p>
            <a:fld id="{BFCDCACA-A665-4F2D-84E6-D76F59EBAA33}" type="datetimeFigureOut">
              <a:rPr lang="en-GB" smtClean="0"/>
              <a:t>03/09/2026</a:t>
            </a:fld>
            <a:endParaRPr lang="en-GB"/>
          </a:p>
        </p:txBody>
      </p:sp>
      <p:sp>
        <p:nvSpPr>
          <p:cNvPr id="4" name="Slide Image Placeholder 3"/>
          <p:cNvSpPr>
            <a:spLocks noGrp="1" noRot="1" noChangeAspect="1"/>
          </p:cNvSpPr>
          <p:nvPr>
            <p:ph type="sldImg" idx="2"/>
          </p:nvPr>
        </p:nvSpPr>
        <p:spPr>
          <a:xfrm>
            <a:off x="482600" y="1279525"/>
            <a:ext cx="6140450" cy="3454400"/>
          </a:xfrm>
          <a:prstGeom prst="rect">
            <a:avLst/>
          </a:prstGeom>
          <a:noFill/>
          <a:ln w="12700">
            <a:solidFill>
              <a:prstClr val="black"/>
            </a:solidFill>
          </a:ln>
        </p:spPr>
        <p:txBody>
          <a:bodyPr vert="horz" lIns="99065" tIns="49532" rIns="99065" bIns="49532" rtlCol="0" anchor="ctr"/>
          <a:lstStyle/>
          <a:p>
            <a:endParaRPr lang="en-GB"/>
          </a:p>
        </p:txBody>
      </p:sp>
      <p:sp>
        <p:nvSpPr>
          <p:cNvPr id="5" name="Notes Placeholder 4"/>
          <p:cNvSpPr>
            <a:spLocks noGrp="1"/>
          </p:cNvSpPr>
          <p:nvPr>
            <p:ph type="body" sz="quarter" idx="3"/>
          </p:nvPr>
        </p:nvSpPr>
        <p:spPr>
          <a:xfrm>
            <a:off x="710407" y="4925407"/>
            <a:ext cx="5683250" cy="4029879"/>
          </a:xfrm>
          <a:prstGeom prst="rect">
            <a:avLst/>
          </a:prstGeom>
        </p:spPr>
        <p:txBody>
          <a:bodyPr vert="horz" lIns="99065" tIns="49532" rIns="99065" bIns="49532"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1" y="9721108"/>
            <a:ext cx="3078427" cy="513507"/>
          </a:xfrm>
          <a:prstGeom prst="rect">
            <a:avLst/>
          </a:prstGeom>
        </p:spPr>
        <p:txBody>
          <a:bodyPr vert="horz" lIns="99065" tIns="49532" rIns="99065" bIns="49532" rtlCol="0" anchor="b"/>
          <a:lstStyle>
            <a:lvl1pPr algn="l">
              <a:defRPr sz="1300"/>
            </a:lvl1pPr>
          </a:lstStyle>
          <a:p>
            <a:endParaRPr lang="en-GB"/>
          </a:p>
        </p:txBody>
      </p:sp>
      <p:sp>
        <p:nvSpPr>
          <p:cNvPr id="7" name="Slide Number Placeholder 6"/>
          <p:cNvSpPr>
            <a:spLocks noGrp="1"/>
          </p:cNvSpPr>
          <p:nvPr>
            <p:ph type="sldNum" sz="quarter" idx="5"/>
          </p:nvPr>
        </p:nvSpPr>
        <p:spPr>
          <a:xfrm>
            <a:off x="4023993" y="9721108"/>
            <a:ext cx="3078427" cy="513507"/>
          </a:xfrm>
          <a:prstGeom prst="rect">
            <a:avLst/>
          </a:prstGeom>
        </p:spPr>
        <p:txBody>
          <a:bodyPr vert="horz" lIns="99065" tIns="49532" rIns="99065" bIns="49532" rtlCol="0" anchor="b"/>
          <a:lstStyle>
            <a:lvl1pPr algn="r">
              <a:defRPr sz="1300"/>
            </a:lvl1pPr>
          </a:lstStyle>
          <a:p>
            <a:fld id="{13B6DB4F-81B2-4D80-B5EA-7E4FDC3873CD}" type="slidenum">
              <a:rPr lang="en-GB" smtClean="0"/>
              <a:t>‹#›</a:t>
            </a:fld>
            <a:endParaRPr lang="en-GB"/>
          </a:p>
        </p:txBody>
      </p:sp>
    </p:spTree>
    <p:extLst>
      <p:ext uri="{BB962C8B-B14F-4D97-AF65-F5344CB8AC3E}">
        <p14:creationId xmlns:p14="http://schemas.microsoft.com/office/powerpoint/2010/main" val="8417979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B61BEF0D-F0BB-DE4B-95CE-6DB70DBA9567}" type="datetimeFigureOut">
              <a:rPr lang="en-US" dirty="0"/>
              <a:pPr/>
              <a:t>9/3/2026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1885410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61BEF0D-F0BB-DE4B-95CE-6DB70DBA9567}" type="datetimeFigureOut">
              <a:rPr lang="en-US" dirty="0"/>
              <a:pPr/>
              <a:t>9/3/2026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38854171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9/3/2026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32791601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EB712588-04B1-427B-82EE-E8DB90309F08}" type="datetimeFigureOut">
              <a:rPr lang="en-US" dirty="0"/>
              <a:t>9/3/2026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FF9F0C5-380F-41C2-899A-BAC0F0927E16}" type="slidenum">
              <a:rPr lang="en-US" dirty="0"/>
              <a:t>‹#›</a:t>
            </a:fld>
            <a:endParaRPr lang="en-US"/>
          </a:p>
        </p:txBody>
      </p:sp>
    </p:spTree>
    <p:extLst>
      <p:ext uri="{BB962C8B-B14F-4D97-AF65-F5344CB8AC3E}">
        <p14:creationId xmlns:p14="http://schemas.microsoft.com/office/powerpoint/2010/main" val="28359168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B61BEF0D-F0BB-DE4B-95CE-6DB70DBA9567}" type="datetimeFigureOut">
              <a:rPr lang="en-US" dirty="0"/>
              <a:pPr/>
              <a:t>9/3/2026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26137332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p>
        </p:txBody>
      </p:sp>
      <p:sp>
        <p:nvSpPr>
          <p:cNvPr id="3" name="Date Placeholder 2"/>
          <p:cNvSpPr>
            <a:spLocks noGrp="1"/>
          </p:cNvSpPr>
          <p:nvPr>
            <p:ph type="dt" sz="half" idx="10"/>
          </p:nvPr>
        </p:nvSpPr>
        <p:spPr/>
        <p:txBody>
          <a:bodyPr/>
          <a:lstStyle/>
          <a:p>
            <a:fld id="{B61BEF0D-F0BB-DE4B-95CE-6DB70DBA9567}" type="datetimeFigureOut">
              <a:rPr lang="en-US" dirty="0"/>
              <a:pPr/>
              <a:t>9/3/2026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6782317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9/3/2026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22537799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dirty="0"/>
              <a:t>9/3/2026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19954A3-9DFD-4C44-94BA-B95130A3BA1C}" type="slidenum">
              <a:rPr lang="en-US" dirty="0"/>
              <a:t>‹#›</a:t>
            </a:fld>
            <a:endParaRPr lang="en-US"/>
          </a:p>
        </p:txBody>
      </p:sp>
    </p:spTree>
    <p:extLst>
      <p:ext uri="{BB962C8B-B14F-4D97-AF65-F5344CB8AC3E}">
        <p14:creationId xmlns:p14="http://schemas.microsoft.com/office/powerpoint/2010/main" val="33562255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9/3/2026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29095768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9/3/2026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39946872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9/3/2026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a:ln w="3175" cmpd="sng">
                  <a:noFill/>
                </a:ln>
                <a:solidFill>
                  <a:schemeClr val="accent1">
                    <a:lumMod val="60000"/>
                    <a:lumOff val="40000"/>
                  </a:schemeClr>
                </a:solidFill>
                <a:latin typeface="Arial"/>
              </a:rPr>
              <a:t>”</a:t>
            </a:r>
            <a:endParaRPr lang="en-US">
              <a:solidFill>
                <a:schemeClr val="accent1">
                  <a:lumMod val="60000"/>
                  <a:lumOff val="40000"/>
                </a:schemeClr>
              </a:solidFill>
              <a:latin typeface="Arial"/>
            </a:endParaRPr>
          </a:p>
        </p:txBody>
      </p:sp>
    </p:spTree>
    <p:extLst>
      <p:ext uri="{BB962C8B-B14F-4D97-AF65-F5344CB8AC3E}">
        <p14:creationId xmlns:p14="http://schemas.microsoft.com/office/powerpoint/2010/main" val="262043763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9/3/2026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294636649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9/3/2026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29176378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9/3/2026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387418071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5C6B4A9-1611-4792-9094-5F34BCA07E0B}" type="datetimeFigureOut">
              <a:rPr lang="en-US" dirty="0"/>
              <a:t>9/3/2026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9333C77-0158-454C-844F-B7AB9BD7DAD4}" type="slidenum">
              <a:rPr lang="en-US" dirty="0"/>
              <a:t>‹#›</a:t>
            </a:fld>
            <a:endParaRPr lang="en-US"/>
          </a:p>
        </p:txBody>
      </p:sp>
    </p:spTree>
    <p:extLst>
      <p:ext uri="{BB962C8B-B14F-4D97-AF65-F5344CB8AC3E}">
        <p14:creationId xmlns:p14="http://schemas.microsoft.com/office/powerpoint/2010/main" val="1309378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61BEF0D-F0BB-DE4B-95CE-6DB70DBA9567}" type="datetimeFigureOut">
              <a:rPr lang="en-US" dirty="0"/>
              <a:pPr/>
              <a:t>9/3/2026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251578464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p:cNvSpPr/>
          <p:nvPr/>
        </p:nvSpPr>
        <p:spPr>
          <a:xfrm>
            <a:off x="0" y="0"/>
            <a:ext cx="12192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2" name="Title 1"/>
          <p:cNvSpPr>
            <a:spLocks noGrp="1"/>
          </p:cNvSpPr>
          <p:nvPr>
            <p:ph type="ctrTitle"/>
          </p:nvPr>
        </p:nvSpPr>
        <p:spPr>
          <a:xfrm>
            <a:off x="457200" y="4960137"/>
            <a:ext cx="7772400" cy="1463040"/>
          </a:xfrm>
        </p:spPr>
        <p:txBody>
          <a:bodyPr anchor="ctr">
            <a:normAutofit/>
          </a:bodyPr>
          <a:lstStyle>
            <a:lvl1pPr algn="r">
              <a:defRPr sz="5000" spc="200" baseline="0"/>
            </a:lvl1pPr>
          </a:lstStyle>
          <a:p>
            <a:r>
              <a:rPr lang="en-US"/>
              <a:t>Click to edit Master title style</a:t>
            </a:r>
          </a:p>
        </p:txBody>
      </p:sp>
      <p:sp>
        <p:nvSpPr>
          <p:cNvPr id="3" name="Subtitle 2"/>
          <p:cNvSpPr>
            <a:spLocks noGrp="1"/>
          </p:cNvSpPr>
          <p:nvPr>
            <p:ph type="subTitle" idx="1"/>
          </p:nvPr>
        </p:nvSpPr>
        <p:spPr>
          <a:xfrm>
            <a:off x="8610600" y="4960137"/>
            <a:ext cx="3200400" cy="1463040"/>
          </a:xfrm>
        </p:spPr>
        <p:txBody>
          <a:bodyPr lIns="91440" rIns="91440" anchor="ctr">
            <a:normAutofit/>
          </a:bodyPr>
          <a:lstStyle>
            <a:lvl1pPr marL="0" indent="0" algn="l">
              <a:lnSpc>
                <a:spcPct val="100000"/>
              </a:lnSpc>
              <a:spcBef>
                <a:spcPts val="0"/>
              </a:spcBef>
              <a:buNone/>
              <a:defRPr sz="1800">
                <a:solidFill>
                  <a:schemeClr val="tx1">
                    <a:lumMod val="95000"/>
                    <a:lumOff val="5000"/>
                  </a:schemeClr>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a:t>Click to edit Master subtitle style</a:t>
            </a:r>
          </a:p>
        </p:txBody>
      </p:sp>
      <p:sp>
        <p:nvSpPr>
          <p:cNvPr id="4" name="Date Placeholder 3"/>
          <p:cNvSpPr>
            <a:spLocks noGrp="1"/>
          </p:cNvSpPr>
          <p:nvPr>
            <p:ph type="dt" sz="half" idx="10"/>
          </p:nvPr>
        </p:nvSpPr>
        <p:spPr/>
        <p:txBody>
          <a:bodyPr/>
          <a:lstStyle>
            <a:lvl1pPr algn="l">
              <a:defRPr/>
            </a:lvl1pPr>
          </a:lstStyle>
          <a:p>
            <a:fld id="{B61BEF0D-F0BB-DE4B-95CE-6DB70DBA9567}" type="datetimeFigureOut">
              <a:rPr lang="en-US" smtClean="0"/>
              <a:pPr/>
              <a:t>9/3/2026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9171963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103259" y="752269"/>
            <a:ext cx="9720072" cy="689669"/>
          </a:xfrm>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61BEF0D-F0BB-DE4B-95CE-6DB70DBA9567}" type="datetimeFigureOut">
              <a:rPr lang="en-US" smtClean="0"/>
              <a:pPr/>
              <a:t>9/3/2026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a:p>
        </p:txBody>
      </p:sp>
      <p:sp>
        <p:nvSpPr>
          <p:cNvPr id="9" name="Text Placeholder 8">
            <a:extLst>
              <a:ext uri="{FF2B5EF4-FFF2-40B4-BE49-F238E27FC236}">
                <a16:creationId xmlns:a16="http://schemas.microsoft.com/office/drawing/2014/main" id="{2B41F5C5-03B0-0439-A925-8361EBCA2AAC}"/>
              </a:ext>
            </a:extLst>
          </p:cNvPr>
          <p:cNvSpPr>
            <a:spLocks noGrp="1"/>
          </p:cNvSpPr>
          <p:nvPr>
            <p:ph type="body" sz="quarter" idx="13"/>
          </p:nvPr>
        </p:nvSpPr>
        <p:spPr>
          <a:xfrm>
            <a:off x="1090733" y="1494082"/>
            <a:ext cx="9671051" cy="466602"/>
          </a:xfrm>
        </p:spPr>
        <p:txBody>
          <a:bodyPr>
            <a:noAutofit/>
          </a:bodyPr>
          <a:lstStyle>
            <a:lvl1pPr>
              <a:defRPr lang="en-US" sz="2800" kern="1200" cap="all" spc="100" baseline="0" dirty="0" smtClean="0">
                <a:solidFill>
                  <a:schemeClr val="tx1">
                    <a:lumMod val="95000"/>
                    <a:lumOff val="5000"/>
                  </a:schemeClr>
                </a:solidFill>
                <a:latin typeface="+mj-lt"/>
                <a:ea typeface="+mj-ea"/>
                <a:cs typeface="+mj-cs"/>
              </a:defRPr>
            </a:lvl1pPr>
            <a:lvl2pPr>
              <a:buNone/>
              <a:defRPr/>
            </a:lvl2pPr>
          </a:lstStyle>
          <a:p>
            <a:pPr lvl="0"/>
            <a:r>
              <a:rPr lang="en-US"/>
              <a:t>Click to edit Master text styles</a:t>
            </a:r>
          </a:p>
        </p:txBody>
      </p:sp>
    </p:spTree>
    <p:extLst>
      <p:ext uri="{BB962C8B-B14F-4D97-AF65-F5344CB8AC3E}">
        <p14:creationId xmlns:p14="http://schemas.microsoft.com/office/powerpoint/2010/main" val="207542045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9" name="Rectangle 8"/>
          <p:cNvSpPr/>
          <p:nvPr/>
        </p:nvSpPr>
        <p:spPr>
          <a:xfrm>
            <a:off x="0" y="0"/>
            <a:ext cx="12192000" cy="4572001"/>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2" name="Title 1"/>
          <p:cNvSpPr>
            <a:spLocks noGrp="1"/>
          </p:cNvSpPr>
          <p:nvPr>
            <p:ph type="title"/>
          </p:nvPr>
        </p:nvSpPr>
        <p:spPr>
          <a:xfrm>
            <a:off x="457200" y="4960137"/>
            <a:ext cx="7772400" cy="1463040"/>
          </a:xfrm>
        </p:spPr>
        <p:txBody>
          <a:bodyPr anchor="ctr">
            <a:normAutofit/>
          </a:bodyPr>
          <a:lstStyle>
            <a:lvl1pPr algn="r">
              <a:defRPr sz="5000" b="0" spc="200" baseline="0"/>
            </a:lvl1pPr>
          </a:lstStyle>
          <a:p>
            <a:r>
              <a:rPr lang="en-US"/>
              <a:t>Click to edit Master title style</a:t>
            </a:r>
          </a:p>
        </p:txBody>
      </p:sp>
      <p:sp>
        <p:nvSpPr>
          <p:cNvPr id="3" name="Text Placeholder 2"/>
          <p:cNvSpPr>
            <a:spLocks noGrp="1"/>
          </p:cNvSpPr>
          <p:nvPr>
            <p:ph type="body" idx="1"/>
          </p:nvPr>
        </p:nvSpPr>
        <p:spPr>
          <a:xfrm>
            <a:off x="8610600" y="4960137"/>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5330934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1024127"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989320"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EB712588-04B1-427B-82EE-E8DB90309F08}" type="datetimeFigureOut">
              <a:rPr lang="en-US" smtClean="0"/>
              <a:t>9/3/2026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a:p>
        </p:txBody>
      </p:sp>
      <p:sp>
        <p:nvSpPr>
          <p:cNvPr id="8" name="Title 1">
            <a:extLst>
              <a:ext uri="{FF2B5EF4-FFF2-40B4-BE49-F238E27FC236}">
                <a16:creationId xmlns:a16="http://schemas.microsoft.com/office/drawing/2014/main" id="{302B76C9-3CDA-FF76-DD31-17EC5833FA3C}"/>
              </a:ext>
            </a:extLst>
          </p:cNvPr>
          <p:cNvSpPr>
            <a:spLocks noGrp="1"/>
          </p:cNvSpPr>
          <p:nvPr>
            <p:ph type="title"/>
          </p:nvPr>
        </p:nvSpPr>
        <p:spPr>
          <a:xfrm>
            <a:off x="1103259" y="752269"/>
            <a:ext cx="9720072" cy="689669"/>
          </a:xfrm>
        </p:spPr>
        <p:txBody>
          <a:bodyPr/>
          <a:lstStyle/>
          <a:p>
            <a:r>
              <a:rPr lang="en-US"/>
              <a:t>Click to edit Master title style</a:t>
            </a:r>
          </a:p>
        </p:txBody>
      </p:sp>
      <p:sp>
        <p:nvSpPr>
          <p:cNvPr id="10" name="Text Placeholder 8">
            <a:extLst>
              <a:ext uri="{FF2B5EF4-FFF2-40B4-BE49-F238E27FC236}">
                <a16:creationId xmlns:a16="http://schemas.microsoft.com/office/drawing/2014/main" id="{B5CC1EC4-AA55-225E-FBB6-594F59CEC78D}"/>
              </a:ext>
            </a:extLst>
          </p:cNvPr>
          <p:cNvSpPr>
            <a:spLocks noGrp="1"/>
          </p:cNvSpPr>
          <p:nvPr>
            <p:ph type="body" sz="quarter" idx="13"/>
          </p:nvPr>
        </p:nvSpPr>
        <p:spPr>
          <a:xfrm>
            <a:off x="1090733" y="1494082"/>
            <a:ext cx="9671051" cy="466602"/>
          </a:xfrm>
        </p:spPr>
        <p:txBody>
          <a:bodyPr>
            <a:noAutofit/>
          </a:bodyPr>
          <a:lstStyle>
            <a:lvl1pPr>
              <a:defRPr lang="en-US" sz="2800" kern="1200" cap="all" spc="100" baseline="0" dirty="0" smtClean="0">
                <a:solidFill>
                  <a:schemeClr val="tx1">
                    <a:lumMod val="95000"/>
                    <a:lumOff val="5000"/>
                  </a:schemeClr>
                </a:solidFill>
                <a:latin typeface="+mj-lt"/>
                <a:ea typeface="+mj-ea"/>
                <a:cs typeface="+mj-cs"/>
              </a:defRPr>
            </a:lvl1pPr>
            <a:lvl2pPr>
              <a:buNone/>
              <a:defRPr/>
            </a:lvl2pPr>
          </a:lstStyle>
          <a:p>
            <a:pPr lvl="0"/>
            <a:r>
              <a:rPr lang="en-US"/>
              <a:t>Click to edit Master text styles</a:t>
            </a:r>
          </a:p>
        </p:txBody>
      </p:sp>
    </p:spTree>
    <p:extLst>
      <p:ext uri="{BB962C8B-B14F-4D97-AF65-F5344CB8AC3E}">
        <p14:creationId xmlns:p14="http://schemas.microsoft.com/office/powerpoint/2010/main" val="101363325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024128" y="2179636"/>
            <a:ext cx="4754880" cy="387718"/>
          </a:xfrm>
        </p:spPr>
        <p:txBody>
          <a:bodyPr lIns="137160" rIns="137160" anchor="ctr">
            <a:normAutofit/>
          </a:bodyPr>
          <a:lstStyle>
            <a:lvl1pPr marL="0" indent="0">
              <a:spcBef>
                <a:spcPts val="0"/>
              </a:spcBef>
              <a:spcAft>
                <a:spcPts val="0"/>
              </a:spcAft>
              <a:buNone/>
              <a:defRPr sz="2300" b="0" cap="none" baseline="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24128" y="2611315"/>
            <a:ext cx="4754880" cy="369804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5990888" y="2179636"/>
            <a:ext cx="4754880" cy="387718"/>
          </a:xfrm>
        </p:spPr>
        <p:txBody>
          <a:bodyPr lIns="137160" rIns="137160" anchor="ctr">
            <a:normAutofit/>
          </a:bodyPr>
          <a:lstStyle>
            <a:lvl1pPr marL="0" indent="0">
              <a:spcBef>
                <a:spcPts val="0"/>
              </a:spcBef>
              <a:spcAft>
                <a:spcPts val="0"/>
              </a:spcAft>
              <a:buNone/>
              <a:defRPr lang="en-US" sz="2300" b="0" kern="1200" cap="none" baseline="0" dirty="0">
                <a:solidFill>
                  <a:schemeClr val="accent1"/>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800"/>
              </a:spcBef>
              <a:buNone/>
            </a:pPr>
            <a:r>
              <a:rPr lang="en-US"/>
              <a:t>Click to edit Master text styles</a:t>
            </a:r>
          </a:p>
        </p:txBody>
      </p:sp>
      <p:sp>
        <p:nvSpPr>
          <p:cNvPr id="6" name="Content Placeholder 5"/>
          <p:cNvSpPr>
            <a:spLocks noGrp="1"/>
          </p:cNvSpPr>
          <p:nvPr>
            <p:ph sz="quarter" idx="4"/>
          </p:nvPr>
        </p:nvSpPr>
        <p:spPr>
          <a:xfrm>
            <a:off x="5990888" y="2611315"/>
            <a:ext cx="4754880" cy="369804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B61BEF0D-F0BB-DE4B-95CE-6DB70DBA9567}" type="datetimeFigureOut">
              <a:rPr lang="en-US" smtClean="0"/>
              <a:pPr/>
              <a:t>9/3/2026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a:p>
        </p:txBody>
      </p:sp>
      <p:sp>
        <p:nvSpPr>
          <p:cNvPr id="2" name="Title 1">
            <a:extLst>
              <a:ext uri="{FF2B5EF4-FFF2-40B4-BE49-F238E27FC236}">
                <a16:creationId xmlns:a16="http://schemas.microsoft.com/office/drawing/2014/main" id="{EABF2EB8-F53E-007B-6D03-49C6960F63A2}"/>
              </a:ext>
            </a:extLst>
          </p:cNvPr>
          <p:cNvSpPr>
            <a:spLocks noGrp="1"/>
          </p:cNvSpPr>
          <p:nvPr>
            <p:ph type="title"/>
          </p:nvPr>
        </p:nvSpPr>
        <p:spPr>
          <a:xfrm>
            <a:off x="1103259" y="752269"/>
            <a:ext cx="9720072" cy="689669"/>
          </a:xfrm>
        </p:spPr>
        <p:txBody>
          <a:bodyPr/>
          <a:lstStyle>
            <a:lvl1pPr>
              <a:defRPr b="0"/>
            </a:lvl1pPr>
          </a:lstStyle>
          <a:p>
            <a:r>
              <a:rPr lang="en-US"/>
              <a:t>Click to edit Master title style</a:t>
            </a:r>
          </a:p>
        </p:txBody>
      </p:sp>
      <p:sp>
        <p:nvSpPr>
          <p:cNvPr id="12" name="Text Placeholder 8">
            <a:extLst>
              <a:ext uri="{FF2B5EF4-FFF2-40B4-BE49-F238E27FC236}">
                <a16:creationId xmlns:a16="http://schemas.microsoft.com/office/drawing/2014/main" id="{68D95B2F-FB23-2D82-1239-BE4F1FCD1943}"/>
              </a:ext>
            </a:extLst>
          </p:cNvPr>
          <p:cNvSpPr>
            <a:spLocks noGrp="1"/>
          </p:cNvSpPr>
          <p:nvPr>
            <p:ph type="body" sz="quarter" idx="13"/>
          </p:nvPr>
        </p:nvSpPr>
        <p:spPr>
          <a:xfrm>
            <a:off x="1090733" y="1494082"/>
            <a:ext cx="9671051" cy="466602"/>
          </a:xfrm>
        </p:spPr>
        <p:txBody>
          <a:bodyPr>
            <a:noAutofit/>
          </a:bodyPr>
          <a:lstStyle>
            <a:lvl1pPr>
              <a:defRPr lang="en-US" sz="2800" kern="1200" cap="all" spc="100" baseline="0" dirty="0" smtClean="0">
                <a:solidFill>
                  <a:schemeClr val="tx1">
                    <a:lumMod val="95000"/>
                    <a:lumOff val="5000"/>
                  </a:schemeClr>
                </a:solidFill>
                <a:latin typeface="+mj-lt"/>
                <a:ea typeface="+mj-ea"/>
                <a:cs typeface="+mj-cs"/>
              </a:defRPr>
            </a:lvl1pPr>
            <a:lvl2pPr>
              <a:buNone/>
              <a:defRPr/>
            </a:lvl2pPr>
          </a:lstStyle>
          <a:p>
            <a:pPr lvl="0"/>
            <a:r>
              <a:rPr lang="en-US"/>
              <a:t>Click to edit Master text styles</a:t>
            </a:r>
          </a:p>
        </p:txBody>
      </p:sp>
    </p:spTree>
    <p:extLst>
      <p:ext uri="{BB962C8B-B14F-4D97-AF65-F5344CB8AC3E}">
        <p14:creationId xmlns:p14="http://schemas.microsoft.com/office/powerpoint/2010/main" val="199869868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B61BEF0D-F0BB-DE4B-95CE-6DB70DBA9567}" type="datetimeFigureOut">
              <a:rPr lang="en-US" smtClean="0"/>
              <a:pPr/>
              <a:t>9/3/2026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a:p>
        </p:txBody>
      </p:sp>
      <p:sp>
        <p:nvSpPr>
          <p:cNvPr id="6" name="Title 1">
            <a:extLst>
              <a:ext uri="{FF2B5EF4-FFF2-40B4-BE49-F238E27FC236}">
                <a16:creationId xmlns:a16="http://schemas.microsoft.com/office/drawing/2014/main" id="{F8BF6302-06AD-7B80-B421-A5C13CEBED6B}"/>
              </a:ext>
            </a:extLst>
          </p:cNvPr>
          <p:cNvSpPr>
            <a:spLocks noGrp="1"/>
          </p:cNvSpPr>
          <p:nvPr>
            <p:ph type="title"/>
          </p:nvPr>
        </p:nvSpPr>
        <p:spPr>
          <a:xfrm>
            <a:off x="1103259" y="752269"/>
            <a:ext cx="9720072" cy="689669"/>
          </a:xfrm>
        </p:spPr>
        <p:txBody>
          <a:bodyPr/>
          <a:lstStyle/>
          <a:p>
            <a:r>
              <a:rPr lang="en-US"/>
              <a:t>Click to edit Master title style</a:t>
            </a:r>
          </a:p>
        </p:txBody>
      </p:sp>
      <p:sp>
        <p:nvSpPr>
          <p:cNvPr id="8" name="Text Placeholder 8">
            <a:extLst>
              <a:ext uri="{FF2B5EF4-FFF2-40B4-BE49-F238E27FC236}">
                <a16:creationId xmlns:a16="http://schemas.microsoft.com/office/drawing/2014/main" id="{437F5514-9995-C404-0A6F-0C7F46B1F462}"/>
              </a:ext>
            </a:extLst>
          </p:cNvPr>
          <p:cNvSpPr>
            <a:spLocks noGrp="1"/>
          </p:cNvSpPr>
          <p:nvPr>
            <p:ph type="body" sz="quarter" idx="13"/>
          </p:nvPr>
        </p:nvSpPr>
        <p:spPr>
          <a:xfrm>
            <a:off x="1090733" y="1494082"/>
            <a:ext cx="9671051" cy="466602"/>
          </a:xfrm>
        </p:spPr>
        <p:txBody>
          <a:bodyPr>
            <a:noAutofit/>
          </a:bodyPr>
          <a:lstStyle>
            <a:lvl1pPr>
              <a:defRPr lang="en-US" sz="2800" kern="1200" cap="all" spc="100" baseline="0" dirty="0" smtClean="0">
                <a:solidFill>
                  <a:schemeClr val="tx1">
                    <a:lumMod val="95000"/>
                    <a:lumOff val="5000"/>
                  </a:schemeClr>
                </a:solidFill>
                <a:latin typeface="+mj-lt"/>
                <a:ea typeface="+mj-ea"/>
                <a:cs typeface="+mj-cs"/>
              </a:defRPr>
            </a:lvl1pPr>
            <a:lvl2pPr>
              <a:buNone/>
              <a:defRPr/>
            </a:lvl2pPr>
          </a:lstStyle>
          <a:p>
            <a:pPr lvl="0"/>
            <a:r>
              <a:rPr lang="en-US"/>
              <a:t>Click to edit Master text styles</a:t>
            </a:r>
          </a:p>
        </p:txBody>
      </p:sp>
    </p:spTree>
    <p:extLst>
      <p:ext uri="{BB962C8B-B14F-4D97-AF65-F5344CB8AC3E}">
        <p14:creationId xmlns:p14="http://schemas.microsoft.com/office/powerpoint/2010/main" val="94578402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284284278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5715000" y="2242038"/>
            <a:ext cx="5678424" cy="3765570"/>
          </a:xfrm>
        </p:spPr>
        <p:txBody>
          <a:bodyPr/>
          <a:lstStyle>
            <a:lvl1pPr>
              <a:defRPr sz="2400"/>
            </a:lvl1pPr>
            <a:lvl2pPr>
              <a:defRPr sz="20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1024128" y="2257506"/>
            <a:ext cx="4389120" cy="3762294"/>
          </a:xfrm>
        </p:spPr>
        <p:txBody>
          <a:bodyPr lIns="91440" rIns="91440">
            <a:normAutofit/>
          </a:bodyPr>
          <a:lstStyle>
            <a:lvl1pPr marL="0" indent="0">
              <a:lnSpc>
                <a:spcPct val="108000"/>
              </a:lnSpc>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a:p>
        </p:txBody>
      </p:sp>
      <p:sp>
        <p:nvSpPr>
          <p:cNvPr id="2" name="Title 1">
            <a:extLst>
              <a:ext uri="{FF2B5EF4-FFF2-40B4-BE49-F238E27FC236}">
                <a16:creationId xmlns:a16="http://schemas.microsoft.com/office/drawing/2014/main" id="{1AEB768B-4B80-ECB7-229D-4EAE1B38C1DD}"/>
              </a:ext>
            </a:extLst>
          </p:cNvPr>
          <p:cNvSpPr>
            <a:spLocks noGrp="1"/>
          </p:cNvSpPr>
          <p:nvPr>
            <p:ph type="title"/>
          </p:nvPr>
        </p:nvSpPr>
        <p:spPr>
          <a:xfrm>
            <a:off x="1103259" y="752269"/>
            <a:ext cx="9720072" cy="689669"/>
          </a:xfrm>
        </p:spPr>
        <p:txBody>
          <a:bodyPr/>
          <a:lstStyle/>
          <a:p>
            <a:r>
              <a:rPr lang="en-US"/>
              <a:t>Click to edit Master title style</a:t>
            </a:r>
          </a:p>
        </p:txBody>
      </p:sp>
      <p:sp>
        <p:nvSpPr>
          <p:cNvPr id="10" name="Text Placeholder 8">
            <a:extLst>
              <a:ext uri="{FF2B5EF4-FFF2-40B4-BE49-F238E27FC236}">
                <a16:creationId xmlns:a16="http://schemas.microsoft.com/office/drawing/2014/main" id="{C576F748-F3D1-B2F7-88FD-D2E7349CFB7F}"/>
              </a:ext>
            </a:extLst>
          </p:cNvPr>
          <p:cNvSpPr>
            <a:spLocks noGrp="1"/>
          </p:cNvSpPr>
          <p:nvPr>
            <p:ph type="body" sz="quarter" idx="13"/>
          </p:nvPr>
        </p:nvSpPr>
        <p:spPr>
          <a:xfrm>
            <a:off x="1090733" y="1494082"/>
            <a:ext cx="9671051" cy="466602"/>
          </a:xfrm>
        </p:spPr>
        <p:txBody>
          <a:bodyPr>
            <a:noAutofit/>
          </a:bodyPr>
          <a:lstStyle>
            <a:lvl1pPr>
              <a:defRPr lang="en-US" sz="2800" kern="1200" cap="all" spc="100" baseline="0" dirty="0" smtClean="0">
                <a:solidFill>
                  <a:schemeClr val="tx1">
                    <a:lumMod val="95000"/>
                    <a:lumOff val="5000"/>
                  </a:schemeClr>
                </a:solidFill>
                <a:latin typeface="+mj-lt"/>
                <a:ea typeface="+mj-ea"/>
                <a:cs typeface="+mj-cs"/>
              </a:defRPr>
            </a:lvl1pPr>
            <a:lvl2pPr>
              <a:buNone/>
              <a:defRPr/>
            </a:lvl2pPr>
          </a:lstStyle>
          <a:p>
            <a:pPr lvl="0"/>
            <a:r>
              <a:rPr lang="en-US"/>
              <a:t>Click to edit Master text styles</a:t>
            </a:r>
          </a:p>
        </p:txBody>
      </p:sp>
    </p:spTree>
    <p:extLst>
      <p:ext uri="{BB962C8B-B14F-4D97-AF65-F5344CB8AC3E}">
        <p14:creationId xmlns:p14="http://schemas.microsoft.com/office/powerpoint/2010/main" val="8264942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8"/>
            <a:ext cx="7772400" cy="1463040"/>
          </a:xfrm>
        </p:spPr>
        <p:txBody>
          <a:bodyPr anchor="ctr">
            <a:normAutofit/>
          </a:bodyPr>
          <a:lstStyle>
            <a:lvl1pPr algn="r">
              <a:defRPr sz="5000" spc="200" baseline="0"/>
            </a:lvl1pPr>
          </a:lstStyle>
          <a:p>
            <a:r>
              <a:rPr lang="en-US"/>
              <a:t>Click to edit Master title style</a:t>
            </a:r>
          </a:p>
        </p:txBody>
      </p:sp>
      <p:sp>
        <p:nvSpPr>
          <p:cNvPr id="3" name="Picture Placeholder 2"/>
          <p:cNvSpPr>
            <a:spLocks noGrp="1" noChangeAspect="1"/>
          </p:cNvSpPr>
          <p:nvPr>
            <p:ph type="pic" idx="1"/>
          </p:nvPr>
        </p:nvSpPr>
        <p:spPr>
          <a:xfrm>
            <a:off x="0" y="-1"/>
            <a:ext cx="12188952" cy="4572000"/>
          </a:xfrm>
          <a:solidFill>
            <a:schemeClr val="accent1">
              <a:lumMod val="60000"/>
              <a:lumOff val="40000"/>
            </a:schemeClr>
          </a:solidFill>
        </p:spPr>
        <p:txBody>
          <a:bodyPr lIns="457200" tIns="365760" rIns="45720" bIns="4572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610600" y="4960138"/>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9/3/2026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a:p>
        </p:txBody>
      </p:sp>
      <p:cxnSp>
        <p:nvCxnSpPr>
          <p:cNvPr id="8" name="Straight Connector 7"/>
          <p:cNvCxnSpPr/>
          <p:nvPr/>
        </p:nvCxnSpPr>
        <p:spPr>
          <a:xfrm flipV="1">
            <a:off x="8386843" y="5264106"/>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345449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5C6B4A9-1611-4792-9094-5F34BCA07E0B}" type="datetimeFigureOut">
              <a:rPr lang="en-US" smtClean="0"/>
              <a:t>9/3/2026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a:p>
        </p:txBody>
      </p:sp>
      <p:sp>
        <p:nvSpPr>
          <p:cNvPr id="9" name="Title 1">
            <a:extLst>
              <a:ext uri="{FF2B5EF4-FFF2-40B4-BE49-F238E27FC236}">
                <a16:creationId xmlns:a16="http://schemas.microsoft.com/office/drawing/2014/main" id="{C99F23BC-6E4F-027F-BB33-09D26A07BEAD}"/>
              </a:ext>
            </a:extLst>
          </p:cNvPr>
          <p:cNvSpPr>
            <a:spLocks noGrp="1"/>
          </p:cNvSpPr>
          <p:nvPr>
            <p:ph type="title"/>
          </p:nvPr>
        </p:nvSpPr>
        <p:spPr>
          <a:xfrm>
            <a:off x="1103259" y="752269"/>
            <a:ext cx="9720072" cy="689669"/>
          </a:xfrm>
        </p:spPr>
        <p:txBody>
          <a:bodyPr/>
          <a:lstStyle/>
          <a:p>
            <a:r>
              <a:rPr lang="en-US"/>
              <a:t>Click to edit Master title style</a:t>
            </a:r>
          </a:p>
        </p:txBody>
      </p:sp>
      <p:sp>
        <p:nvSpPr>
          <p:cNvPr id="11" name="Text Placeholder 8">
            <a:extLst>
              <a:ext uri="{FF2B5EF4-FFF2-40B4-BE49-F238E27FC236}">
                <a16:creationId xmlns:a16="http://schemas.microsoft.com/office/drawing/2014/main" id="{CCD48ABD-07F2-6C9A-8E7B-0F4651FFA2FF}"/>
              </a:ext>
            </a:extLst>
          </p:cNvPr>
          <p:cNvSpPr>
            <a:spLocks noGrp="1"/>
          </p:cNvSpPr>
          <p:nvPr>
            <p:ph type="body" sz="quarter" idx="13"/>
          </p:nvPr>
        </p:nvSpPr>
        <p:spPr>
          <a:xfrm>
            <a:off x="1090733" y="1494082"/>
            <a:ext cx="9671051" cy="466602"/>
          </a:xfrm>
        </p:spPr>
        <p:txBody>
          <a:bodyPr>
            <a:noAutofit/>
          </a:bodyPr>
          <a:lstStyle>
            <a:lvl1pPr>
              <a:defRPr lang="en-US" sz="2800" kern="1200" cap="all" spc="100" baseline="0" dirty="0" smtClean="0">
                <a:solidFill>
                  <a:schemeClr val="tx1">
                    <a:lumMod val="95000"/>
                    <a:lumOff val="5000"/>
                  </a:schemeClr>
                </a:solidFill>
                <a:latin typeface="+mj-lt"/>
                <a:ea typeface="+mj-ea"/>
                <a:cs typeface="+mj-cs"/>
              </a:defRPr>
            </a:lvl1pPr>
            <a:lvl2pPr>
              <a:buNone/>
              <a:defRPr/>
            </a:lvl2pPr>
          </a:lstStyle>
          <a:p>
            <a:pPr lvl="0"/>
            <a:r>
              <a:rPr lang="en-US"/>
              <a:t>Click to edit Master text styles</a:t>
            </a:r>
          </a:p>
        </p:txBody>
      </p:sp>
    </p:spTree>
    <p:extLst>
      <p:ext uri="{BB962C8B-B14F-4D97-AF65-F5344CB8AC3E}">
        <p14:creationId xmlns:p14="http://schemas.microsoft.com/office/powerpoint/2010/main" val="337989555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762000"/>
            <a:ext cx="2628900" cy="5410200"/>
          </a:xfrm>
        </p:spPr>
        <p:txBody>
          <a:bodyPr vert="eaVert" lIns="45720" tIns="91440" rIns="45720" bIns="91440"/>
          <a:lstStyle/>
          <a:p>
            <a:r>
              <a:rPr lang="en-US"/>
              <a:t>Click to edit Master title style</a:t>
            </a:r>
          </a:p>
        </p:txBody>
      </p:sp>
      <p:sp>
        <p:nvSpPr>
          <p:cNvPr id="3" name="Vertical Text Placeholder 2"/>
          <p:cNvSpPr>
            <a:spLocks noGrp="1"/>
          </p:cNvSpPr>
          <p:nvPr>
            <p:ph type="body" orient="vert" idx="1"/>
          </p:nvPr>
        </p:nvSpPr>
        <p:spPr>
          <a:xfrm>
            <a:off x="990601" y="762000"/>
            <a:ext cx="7581900" cy="5410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61BEF0D-F0BB-DE4B-95CE-6DB70DBA9567}" type="datetimeFigureOut">
              <a:rPr lang="en-US" smtClean="0"/>
              <a:pPr/>
              <a:t>9/3/2026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a:p>
        </p:txBody>
      </p:sp>
      <p:cxnSp>
        <p:nvCxnSpPr>
          <p:cNvPr id="7" name="Straight Connector 6"/>
          <p:cNvCxnSpPr/>
          <p:nvPr/>
        </p:nvCxnSpPr>
        <p:spPr>
          <a:xfrm rot="5400000" flipV="1">
            <a:off x="10058400" y="59263"/>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98182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4.xml"/><Relationship Id="rId3" Type="http://schemas.openxmlformats.org/officeDocument/2006/relationships/slideLayout" Target="../slideLayouts/slideLayout19.xml"/><Relationship Id="rId7" Type="http://schemas.openxmlformats.org/officeDocument/2006/relationships/slideLayout" Target="../slideLayouts/slideLayout23.xml"/><Relationship Id="rId12" Type="http://schemas.openxmlformats.org/officeDocument/2006/relationships/theme" Target="../theme/theme2.xml"/><Relationship Id="rId2" Type="http://schemas.openxmlformats.org/officeDocument/2006/relationships/slideLayout" Target="../slideLayouts/slideLayout18.xml"/><Relationship Id="rId1" Type="http://schemas.openxmlformats.org/officeDocument/2006/relationships/slideLayout" Target="../slideLayouts/slideLayout17.xml"/><Relationship Id="rId6" Type="http://schemas.openxmlformats.org/officeDocument/2006/relationships/slideLayout" Target="../slideLayouts/slideLayout22.xml"/><Relationship Id="rId11" Type="http://schemas.openxmlformats.org/officeDocument/2006/relationships/slideLayout" Target="../slideLayouts/slideLayout27.xml"/><Relationship Id="rId5" Type="http://schemas.openxmlformats.org/officeDocument/2006/relationships/slideLayout" Target="../slideLayouts/slideLayout21.xml"/><Relationship Id="rId10" Type="http://schemas.openxmlformats.org/officeDocument/2006/relationships/slideLayout" Target="../slideLayouts/slideLayout26.xml"/><Relationship Id="rId4" Type="http://schemas.openxmlformats.org/officeDocument/2006/relationships/slideLayout" Target="../slideLayouts/slideLayout20.xml"/><Relationship Id="rId9" Type="http://schemas.openxmlformats.org/officeDocument/2006/relationships/slideLayout" Target="../slideLayouts/slideLayout2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dirty="0"/>
              <a:pPr/>
              <a:t>9/3/2026</a:t>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dirty="0"/>
              <a:pPr/>
              <a:t>‹#›</a:t>
            </a:fld>
            <a:endParaRPr lang="en-US"/>
          </a:p>
        </p:txBody>
      </p:sp>
    </p:spTree>
    <p:extLst>
      <p:ext uri="{BB962C8B-B14F-4D97-AF65-F5344CB8AC3E}">
        <p14:creationId xmlns:p14="http://schemas.microsoft.com/office/powerpoint/2010/main" val="1787106171"/>
      </p:ext>
    </p:extLst>
  </p:cSld>
  <p:clrMap bg1="lt1" tx1="dk1" bg2="lt2" tx2="dk2" accent1="accent1" accent2="accent2" accent3="accent3" accent4="accent4" accent5="accent5" accent6="accent6" hlink="hlink" folHlink="folHlink"/>
  <p:sldLayoutIdLst>
    <p:sldLayoutId id="2147483702" r:id="rId1"/>
    <p:sldLayoutId id="2147483703" r:id="rId2"/>
    <p:sldLayoutId id="2147483704" r:id="rId3"/>
    <p:sldLayoutId id="2147483705" r:id="rId4"/>
    <p:sldLayoutId id="2147483706" r:id="rId5"/>
    <p:sldLayoutId id="2147483707" r:id="rId6"/>
    <p:sldLayoutId id="2147483708" r:id="rId7"/>
    <p:sldLayoutId id="2147483709" r:id="rId8"/>
    <p:sldLayoutId id="2147483710" r:id="rId9"/>
    <p:sldLayoutId id="2147483711" r:id="rId10"/>
    <p:sldLayoutId id="2147483712" r:id="rId11"/>
    <p:sldLayoutId id="2147483713" r:id="rId12"/>
    <p:sldLayoutId id="2147483714" r:id="rId13"/>
    <p:sldLayoutId id="2147483715" r:id="rId14"/>
    <p:sldLayoutId id="2147483716" r:id="rId15"/>
    <p:sldLayoutId id="2147483717"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24128" y="585216"/>
            <a:ext cx="9720072" cy="1499616"/>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1024128" y="2286000"/>
            <a:ext cx="9720073" cy="4023360"/>
          </a:xfrm>
          <a:prstGeom prst="rect">
            <a:avLst/>
          </a:prstGeom>
        </p:spPr>
        <p:txBody>
          <a:bodyPr vert="horz" lIns="45720" tIns="45720" rIns="4572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1024129" y="6470704"/>
            <a:ext cx="2154143"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B61BEF0D-F0BB-DE4B-95CE-6DB70DBA9567}" type="datetimeFigureOut">
              <a:rPr lang="en-US" smtClean="0"/>
              <a:pPr/>
              <a:t>9/3/2026</a:t>
            </a:fld>
            <a:endParaRPr lang="en-US"/>
          </a:p>
        </p:txBody>
      </p:sp>
      <p:sp>
        <p:nvSpPr>
          <p:cNvPr id="5" name="Footer Placeholder 4"/>
          <p:cNvSpPr>
            <a:spLocks noGrp="1"/>
          </p:cNvSpPr>
          <p:nvPr>
            <p:ph type="ftr" sz="quarter" idx="3"/>
          </p:nvPr>
        </p:nvSpPr>
        <p:spPr>
          <a:xfrm>
            <a:off x="4842932" y="6470704"/>
            <a:ext cx="5901459" cy="274320"/>
          </a:xfrm>
          <a:prstGeom prst="rect">
            <a:avLst/>
          </a:prstGeom>
        </p:spPr>
        <p:txBody>
          <a:bodyPr vert="horz" lIns="91440" tIns="45720" rIns="91440" bIns="45720" rtlCol="0" anchor="ctr"/>
          <a:lstStyle>
            <a:lvl1pPr algn="r">
              <a:defRPr sz="1000" cap="all" baseline="0">
                <a:solidFill>
                  <a:schemeClr val="tx1">
                    <a:lumMod val="95000"/>
                    <a:lumOff val="5000"/>
                  </a:schemeClr>
                </a:solidFill>
                <a:latin typeface="+mj-lt"/>
              </a:defRPr>
            </a:lvl1pPr>
          </a:lstStyle>
          <a:p>
            <a:endParaRPr lang="en-US"/>
          </a:p>
        </p:txBody>
      </p:sp>
      <p:sp>
        <p:nvSpPr>
          <p:cNvPr id="6" name="Slide Number Placeholder 5"/>
          <p:cNvSpPr>
            <a:spLocks noGrp="1"/>
          </p:cNvSpPr>
          <p:nvPr>
            <p:ph type="sldNum" sz="quarter" idx="4"/>
          </p:nvPr>
        </p:nvSpPr>
        <p:spPr>
          <a:xfrm>
            <a:off x="10837333" y="6470704"/>
            <a:ext cx="973667"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D57F1E4F-1CFF-5643-939E-217C01CDF565}" type="slidenum">
              <a:rPr lang="en-US" smtClean="0"/>
              <a:pPr/>
              <a:t>‹#›</a:t>
            </a:fld>
            <a:endParaRPr lang="en-US"/>
          </a:p>
        </p:txBody>
      </p:sp>
      <p:cxnSp>
        <p:nvCxnSpPr>
          <p:cNvPr id="7" name="Straight Connector 6"/>
          <p:cNvCxnSpPr/>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59404324"/>
      </p:ext>
    </p:extLst>
  </p:cSld>
  <p:clrMap bg1="lt1" tx1="dk1" bg2="lt2" tx2="dk2" accent1="accent1" accent2="accent2" accent3="accent3" accent4="accent4" accent5="accent5" accent6="accent6" hlink="hlink" folHlink="folHlink"/>
  <p:sldLayoutIdLst>
    <p:sldLayoutId id="2147483760" r:id="rId1"/>
    <p:sldLayoutId id="2147483761" r:id="rId2"/>
    <p:sldLayoutId id="2147483762" r:id="rId3"/>
    <p:sldLayoutId id="2147483763" r:id="rId4"/>
    <p:sldLayoutId id="2147483764" r:id="rId5"/>
    <p:sldLayoutId id="2147483765" r:id="rId6"/>
    <p:sldLayoutId id="2147483766" r:id="rId7"/>
    <p:sldLayoutId id="2147483767" r:id="rId8"/>
    <p:sldLayoutId id="2147483768" r:id="rId9"/>
    <p:sldLayoutId id="2147483769" r:id="rId10"/>
    <p:sldLayoutId id="2147483770" r:id="rId11"/>
  </p:sldLayoutIdLst>
  <p:txStyles>
    <p:titleStyle>
      <a:lvl1pPr algn="l" defTabSz="914400" rtl="0" eaLnBrk="1" latinLnBrk="0" hangingPunct="1">
        <a:lnSpc>
          <a:spcPct val="80000"/>
        </a:lnSpc>
        <a:spcBef>
          <a:spcPct val="0"/>
        </a:spcBef>
        <a:buNone/>
        <a:defRPr sz="5000" kern="1200" cap="all" spc="100" baseline="0">
          <a:solidFill>
            <a:schemeClr val="tx1">
              <a:lumMod val="95000"/>
              <a:lumOff val="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chart" Target="../charts/chart1.xml"/><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chart" Target="../charts/chart2.xml"/><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8.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99840A4-5CDC-C66D-D870-D45EF670BE3F}"/>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27A5846-43C8-5935-662E-1C215A7F02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4B8DD4A-263E-932C-4998-09FD8392DA60}"/>
              </a:ext>
            </a:extLst>
          </p:cNvPr>
          <p:cNvSpPr>
            <a:spLocks noGrp="1"/>
          </p:cNvSpPr>
          <p:nvPr>
            <p:ph type="ctrTitle"/>
          </p:nvPr>
        </p:nvSpPr>
        <p:spPr>
          <a:xfrm>
            <a:off x="643467" y="643467"/>
            <a:ext cx="7164674" cy="5571066"/>
          </a:xfrm>
        </p:spPr>
        <p:txBody>
          <a:bodyPr>
            <a:normAutofit/>
          </a:bodyPr>
          <a:lstStyle/>
          <a:p>
            <a:r>
              <a:rPr lang="en-GB" sz="6600">
                <a:solidFill>
                  <a:schemeClr val="tx1">
                    <a:alpha val="80000"/>
                  </a:schemeClr>
                </a:solidFill>
              </a:rPr>
              <a:t>Cathkin estates</a:t>
            </a:r>
            <a:br>
              <a:rPr lang="en-GB" sz="6600">
                <a:solidFill>
                  <a:schemeClr val="tx1">
                    <a:alpha val="80000"/>
                  </a:schemeClr>
                </a:solidFill>
              </a:rPr>
            </a:br>
            <a:r>
              <a:rPr lang="en-GB" sz="6600">
                <a:solidFill>
                  <a:schemeClr val="tx1">
                    <a:alpha val="80000"/>
                  </a:schemeClr>
                </a:solidFill>
              </a:rPr>
              <a:t>Tractor Expenditure</a:t>
            </a:r>
            <a:br>
              <a:rPr lang="en-GB" sz="6600">
                <a:solidFill>
                  <a:schemeClr val="tx1">
                    <a:alpha val="80000"/>
                  </a:schemeClr>
                </a:solidFill>
              </a:rPr>
            </a:br>
            <a:r>
              <a:rPr lang="en-GB" sz="6600">
                <a:solidFill>
                  <a:schemeClr val="tx1">
                    <a:alpha val="80000"/>
                  </a:schemeClr>
                </a:solidFill>
              </a:rPr>
              <a:t>root cause analysis</a:t>
            </a:r>
          </a:p>
        </p:txBody>
      </p:sp>
      <p:sp>
        <p:nvSpPr>
          <p:cNvPr id="3" name="Subtitle 2">
            <a:extLst>
              <a:ext uri="{FF2B5EF4-FFF2-40B4-BE49-F238E27FC236}">
                <a16:creationId xmlns:a16="http://schemas.microsoft.com/office/drawing/2014/main" id="{059D29F0-F9AD-CDDB-A73A-97F016379430}"/>
              </a:ext>
            </a:extLst>
          </p:cNvPr>
          <p:cNvSpPr>
            <a:spLocks noGrp="1"/>
          </p:cNvSpPr>
          <p:nvPr>
            <p:ph type="subTitle" idx="1"/>
          </p:nvPr>
        </p:nvSpPr>
        <p:spPr>
          <a:xfrm>
            <a:off x="8451608" y="643467"/>
            <a:ext cx="3096926" cy="5571066"/>
          </a:xfrm>
        </p:spPr>
        <p:txBody>
          <a:bodyPr>
            <a:normAutofit/>
          </a:bodyPr>
          <a:lstStyle/>
          <a:p>
            <a:r>
              <a:rPr lang="en-GB" sz="2000"/>
              <a:t>23</a:t>
            </a:r>
            <a:r>
              <a:rPr lang="en-GB" sz="2000" baseline="30000"/>
              <a:t>rd</a:t>
            </a:r>
            <a:r>
              <a:rPr lang="en-GB" sz="2000"/>
              <a:t> June 2026</a:t>
            </a:r>
          </a:p>
        </p:txBody>
      </p:sp>
      <p:cxnSp>
        <p:nvCxnSpPr>
          <p:cNvPr id="10" name="Straight Connector 9">
            <a:extLst>
              <a:ext uri="{FF2B5EF4-FFF2-40B4-BE49-F238E27FC236}">
                <a16:creationId xmlns:a16="http://schemas.microsoft.com/office/drawing/2014/main" id="{0F803053-4C7B-5D52-BDA9-90F7D325C9A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139605" y="1600200"/>
            <a:ext cx="0" cy="36576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728217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2247C7-7042-2165-5E3D-24523632AE8B}"/>
            </a:ext>
          </a:extLst>
        </p:cNvPr>
        <p:cNvGrpSpPr/>
        <p:nvPr/>
      </p:nvGrpSpPr>
      <p:grpSpPr>
        <a:xfrm>
          <a:off x="0" y="0"/>
          <a:ext cx="0" cy="0"/>
          <a:chOff x="0" y="0"/>
          <a:chExt cx="0" cy="0"/>
        </a:xfrm>
      </p:grpSpPr>
      <p:graphicFrame>
        <p:nvGraphicFramePr>
          <p:cNvPr id="36" name="Content Placeholder 7">
            <a:extLst>
              <a:ext uri="{FF2B5EF4-FFF2-40B4-BE49-F238E27FC236}">
                <a16:creationId xmlns:a16="http://schemas.microsoft.com/office/drawing/2014/main" id="{A2D78B2F-49B7-55DF-94EB-BC1CA0F2DF60}"/>
              </a:ext>
            </a:extLst>
          </p:cNvPr>
          <p:cNvGraphicFramePr>
            <a:graphicFrameLocks noGrp="1"/>
          </p:cNvGraphicFramePr>
          <p:nvPr>
            <p:ph idx="1"/>
            <p:extLst>
              <p:ext uri="{D42A27DB-BD31-4B8C-83A1-F6EECF244321}">
                <p14:modId xmlns:p14="http://schemas.microsoft.com/office/powerpoint/2010/main" val="3725993881"/>
              </p:ext>
            </p:extLst>
          </p:nvPr>
        </p:nvGraphicFramePr>
        <p:xfrm>
          <a:off x="1023938" y="2286000"/>
          <a:ext cx="9720262" cy="4022725"/>
        </p:xfrm>
        <a:graphic>
          <a:graphicData uri="http://schemas.openxmlformats.org/drawingml/2006/chart">
            <c:chart xmlns:c="http://schemas.openxmlformats.org/drawingml/2006/chart" xmlns:r="http://schemas.openxmlformats.org/officeDocument/2006/relationships" r:id="rId2"/>
          </a:graphicData>
        </a:graphic>
      </p:graphicFrame>
      <p:sp>
        <p:nvSpPr>
          <p:cNvPr id="4" name="Title 3">
            <a:extLst>
              <a:ext uri="{FF2B5EF4-FFF2-40B4-BE49-F238E27FC236}">
                <a16:creationId xmlns:a16="http://schemas.microsoft.com/office/drawing/2014/main" id="{D33A5C09-6EDF-C69B-E070-F7D58541400C}"/>
              </a:ext>
            </a:extLst>
          </p:cNvPr>
          <p:cNvSpPr>
            <a:spLocks noGrp="1"/>
          </p:cNvSpPr>
          <p:nvPr>
            <p:ph type="title"/>
          </p:nvPr>
        </p:nvSpPr>
        <p:spPr>
          <a:xfrm>
            <a:off x="1103259" y="752269"/>
            <a:ext cx="10712920" cy="689669"/>
          </a:xfrm>
        </p:spPr>
        <p:txBody>
          <a:bodyPr>
            <a:normAutofit fontScale="90000"/>
          </a:bodyPr>
          <a:lstStyle/>
          <a:p>
            <a:r>
              <a:rPr lang="en-GB"/>
              <a:t>Tractor expenditure: actual vs. industry standard</a:t>
            </a:r>
          </a:p>
        </p:txBody>
      </p:sp>
      <p:sp>
        <p:nvSpPr>
          <p:cNvPr id="7" name="Text Placeholder 6">
            <a:extLst>
              <a:ext uri="{FF2B5EF4-FFF2-40B4-BE49-F238E27FC236}">
                <a16:creationId xmlns:a16="http://schemas.microsoft.com/office/drawing/2014/main" id="{28E444DD-980E-37DC-EDE1-CC9223B645FD}"/>
              </a:ext>
            </a:extLst>
          </p:cNvPr>
          <p:cNvSpPr>
            <a:spLocks noGrp="1"/>
          </p:cNvSpPr>
          <p:nvPr>
            <p:ph type="body" sz="quarter" idx="13"/>
          </p:nvPr>
        </p:nvSpPr>
        <p:spPr/>
        <p:txBody>
          <a:bodyPr/>
          <a:lstStyle/>
          <a:p>
            <a:r>
              <a:rPr lang="en-GB"/>
              <a:t>Modelled based on </a:t>
            </a:r>
            <a:r>
              <a:rPr lang="en-GB">
                <a:solidFill>
                  <a:srgbClr val="FF0000"/>
                </a:solidFill>
              </a:rPr>
              <a:t>500</a:t>
            </a:r>
            <a:r>
              <a:rPr lang="en-GB"/>
              <a:t> hrs per year</a:t>
            </a:r>
          </a:p>
        </p:txBody>
      </p:sp>
      <p:pic>
        <p:nvPicPr>
          <p:cNvPr id="2" name="Picture 1">
            <a:extLst>
              <a:ext uri="{FF2B5EF4-FFF2-40B4-BE49-F238E27FC236}">
                <a16:creationId xmlns:a16="http://schemas.microsoft.com/office/drawing/2014/main" id="{0DD29A90-E3B7-8470-1016-E7F3A796E7E8}"/>
              </a:ext>
            </a:extLst>
          </p:cNvPr>
          <p:cNvPicPr>
            <a:picLocks noChangeAspect="1"/>
          </p:cNvPicPr>
          <p:nvPr/>
        </p:nvPicPr>
        <p:blipFill>
          <a:blip r:embed="rId3"/>
          <a:stretch>
            <a:fillRect/>
          </a:stretch>
        </p:blipFill>
        <p:spPr>
          <a:xfrm>
            <a:off x="3941685" y="6336471"/>
            <a:ext cx="3623816" cy="521529"/>
          </a:xfrm>
          <a:prstGeom prst="rect">
            <a:avLst/>
          </a:prstGeom>
        </p:spPr>
      </p:pic>
      <p:sp>
        <p:nvSpPr>
          <p:cNvPr id="37" name="Speech Bubble: Rectangle 36">
            <a:extLst>
              <a:ext uri="{FF2B5EF4-FFF2-40B4-BE49-F238E27FC236}">
                <a16:creationId xmlns:a16="http://schemas.microsoft.com/office/drawing/2014/main" id="{6C16AAD6-903B-25A1-D183-1F1C0F914D43}"/>
              </a:ext>
            </a:extLst>
          </p:cNvPr>
          <p:cNvSpPr/>
          <p:nvPr/>
        </p:nvSpPr>
        <p:spPr>
          <a:xfrm>
            <a:off x="6400799" y="2445647"/>
            <a:ext cx="3470989" cy="726761"/>
          </a:xfrm>
          <a:prstGeom prst="wedgeRectCallout">
            <a:avLst>
              <a:gd name="adj1" fmla="val -59120"/>
              <a:gd name="adj2" fmla="val 13343"/>
            </a:avLst>
          </a:prstGeom>
          <a:solidFill>
            <a:srgbClr val="FF0000">
              <a:alpha val="1882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GB" sz="1000" b="1">
                <a:solidFill>
                  <a:schemeClr val="tx2">
                    <a:lumMod val="75000"/>
                  </a:schemeClr>
                </a:solidFill>
              </a:rPr>
              <a:t>Cumulative expenditure:  ZAR 500k</a:t>
            </a:r>
          </a:p>
          <a:p>
            <a:r>
              <a:rPr lang="en-GB" sz="1000" b="1">
                <a:solidFill>
                  <a:schemeClr val="tx2">
                    <a:lumMod val="75000"/>
                  </a:schemeClr>
                </a:solidFill>
              </a:rPr>
              <a:t>Expected expenditure: ZAR 65k</a:t>
            </a:r>
          </a:p>
          <a:p>
            <a:r>
              <a:rPr lang="en-GB" sz="1000">
                <a:solidFill>
                  <a:schemeClr val="tx2">
                    <a:lumMod val="75000"/>
                  </a:schemeClr>
                </a:solidFill>
              </a:rPr>
              <a:t>Actual expenditure is over 7 times greater than industry standard </a:t>
            </a:r>
          </a:p>
        </p:txBody>
      </p:sp>
    </p:spTree>
    <p:extLst>
      <p:ext uri="{BB962C8B-B14F-4D97-AF65-F5344CB8AC3E}">
        <p14:creationId xmlns:p14="http://schemas.microsoft.com/office/powerpoint/2010/main" val="30101261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6">
                                            <p:graphicEl>
                                              <a:chart seriesIdx="0" categoryIdx="-4" bldStep="series"/>
                                            </p:graphicEl>
                                          </p:spTgt>
                                        </p:tgtEl>
                                        <p:attrNameLst>
                                          <p:attrName>style.visibility</p:attrName>
                                        </p:attrNameLst>
                                      </p:cBhvr>
                                      <p:to>
                                        <p:strVal val="visible"/>
                                      </p:to>
                                    </p:set>
                                    <p:animEffect transition="in" filter="fade">
                                      <p:cBhvr>
                                        <p:cTn id="7" dur="500"/>
                                        <p:tgtEl>
                                          <p:spTgt spid="36">
                                            <p:graphicEl>
                                              <a:chart seriesIdx="0" categoryIdx="-4" bldStep="series"/>
                                            </p:graphic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6">
                                            <p:graphicEl>
                                              <a:chart seriesIdx="1" categoryIdx="-4" bldStep="series"/>
                                            </p:graphicEl>
                                          </p:spTgt>
                                        </p:tgtEl>
                                        <p:attrNameLst>
                                          <p:attrName>style.visibility</p:attrName>
                                        </p:attrNameLst>
                                      </p:cBhvr>
                                      <p:to>
                                        <p:strVal val="visible"/>
                                      </p:to>
                                    </p:set>
                                    <p:animEffect transition="in" filter="fade">
                                      <p:cBhvr>
                                        <p:cTn id="12" dur="500"/>
                                        <p:tgtEl>
                                          <p:spTgt spid="36">
                                            <p:graphicEl>
                                              <a:chart seriesIdx="1" categoryIdx="-4" bldStep="series"/>
                                            </p:graphic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6">
                                            <p:graphicEl>
                                              <a:chart seriesIdx="2" categoryIdx="-4" bldStep="series"/>
                                            </p:graphicEl>
                                          </p:spTgt>
                                        </p:tgtEl>
                                        <p:attrNameLst>
                                          <p:attrName>style.visibility</p:attrName>
                                        </p:attrNameLst>
                                      </p:cBhvr>
                                      <p:to>
                                        <p:strVal val="visible"/>
                                      </p:to>
                                    </p:set>
                                    <p:animEffect transition="in" filter="fade">
                                      <p:cBhvr>
                                        <p:cTn id="17" dur="500"/>
                                        <p:tgtEl>
                                          <p:spTgt spid="36">
                                            <p:graphicEl>
                                              <a:chart seriesIdx="2" categoryIdx="-4" bldStep="series"/>
                                            </p:graphic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6">
                                            <p:graphicEl>
                                              <a:chart seriesIdx="3" categoryIdx="-4" bldStep="series"/>
                                            </p:graphicEl>
                                          </p:spTgt>
                                        </p:tgtEl>
                                        <p:attrNameLst>
                                          <p:attrName>style.visibility</p:attrName>
                                        </p:attrNameLst>
                                      </p:cBhvr>
                                      <p:to>
                                        <p:strVal val="visible"/>
                                      </p:to>
                                    </p:set>
                                    <p:animEffect transition="in" filter="fade">
                                      <p:cBhvr>
                                        <p:cTn id="22" dur="500"/>
                                        <p:tgtEl>
                                          <p:spTgt spid="36">
                                            <p:graphicEl>
                                              <a:chart seriesIdx="3" categoryIdx="-4" bldStep="series"/>
                                            </p:graphic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7"/>
                                        </p:tgtEl>
                                        <p:attrNameLst>
                                          <p:attrName>style.visibility</p:attrName>
                                        </p:attrNameLst>
                                      </p:cBhvr>
                                      <p:to>
                                        <p:strVal val="visible"/>
                                      </p:to>
                                    </p:set>
                                    <p:animEffect transition="in" filter="fade">
                                      <p:cBhvr>
                                        <p:cTn id="27" dur="5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36" grpId="0">
        <p:bldSub>
          <a:bldChart bld="series"/>
        </p:bldSub>
      </p:bldGraphic>
      <p:bldP spid="37"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07ADE5-E346-19CC-16BC-D7F1B2D949C4}"/>
            </a:ext>
          </a:extLst>
        </p:cNvPr>
        <p:cNvGrpSpPr/>
        <p:nvPr/>
      </p:nvGrpSpPr>
      <p:grpSpPr>
        <a:xfrm>
          <a:off x="0" y="0"/>
          <a:ext cx="0" cy="0"/>
          <a:chOff x="0" y="0"/>
          <a:chExt cx="0" cy="0"/>
        </a:xfrm>
      </p:grpSpPr>
      <p:graphicFrame>
        <p:nvGraphicFramePr>
          <p:cNvPr id="36" name="Content Placeholder 7">
            <a:extLst>
              <a:ext uri="{FF2B5EF4-FFF2-40B4-BE49-F238E27FC236}">
                <a16:creationId xmlns:a16="http://schemas.microsoft.com/office/drawing/2014/main" id="{07559D17-0A60-53AD-8AC3-5FACADBF59AB}"/>
              </a:ext>
            </a:extLst>
          </p:cNvPr>
          <p:cNvGraphicFramePr>
            <a:graphicFrameLocks noGrp="1"/>
          </p:cNvGraphicFramePr>
          <p:nvPr>
            <p:ph idx="1"/>
          </p:nvPr>
        </p:nvGraphicFramePr>
        <p:xfrm>
          <a:off x="1023938" y="2286000"/>
          <a:ext cx="9720262" cy="4022725"/>
        </p:xfrm>
        <a:graphic>
          <a:graphicData uri="http://schemas.openxmlformats.org/drawingml/2006/chart">
            <c:chart xmlns:c="http://schemas.openxmlformats.org/drawingml/2006/chart" xmlns:r="http://schemas.openxmlformats.org/officeDocument/2006/relationships" r:id="rId2"/>
          </a:graphicData>
        </a:graphic>
      </p:graphicFrame>
      <p:sp>
        <p:nvSpPr>
          <p:cNvPr id="4" name="Title 3">
            <a:extLst>
              <a:ext uri="{FF2B5EF4-FFF2-40B4-BE49-F238E27FC236}">
                <a16:creationId xmlns:a16="http://schemas.microsoft.com/office/drawing/2014/main" id="{A0C3C0EE-231F-2929-926D-F426C6EAEBAD}"/>
              </a:ext>
            </a:extLst>
          </p:cNvPr>
          <p:cNvSpPr>
            <a:spLocks noGrp="1"/>
          </p:cNvSpPr>
          <p:nvPr>
            <p:ph type="title"/>
          </p:nvPr>
        </p:nvSpPr>
        <p:spPr>
          <a:xfrm>
            <a:off x="1103259" y="752269"/>
            <a:ext cx="10712920" cy="689669"/>
          </a:xfrm>
        </p:spPr>
        <p:txBody>
          <a:bodyPr>
            <a:normAutofit fontScale="90000"/>
          </a:bodyPr>
          <a:lstStyle/>
          <a:p>
            <a:r>
              <a:rPr lang="en-GB"/>
              <a:t>Tractor expenditure: actual vs. industry standard</a:t>
            </a:r>
          </a:p>
        </p:txBody>
      </p:sp>
      <p:sp>
        <p:nvSpPr>
          <p:cNvPr id="7" name="Text Placeholder 6">
            <a:extLst>
              <a:ext uri="{FF2B5EF4-FFF2-40B4-BE49-F238E27FC236}">
                <a16:creationId xmlns:a16="http://schemas.microsoft.com/office/drawing/2014/main" id="{2AB5FE2B-6528-7E50-CA37-3F574E228404}"/>
              </a:ext>
            </a:extLst>
          </p:cNvPr>
          <p:cNvSpPr>
            <a:spLocks noGrp="1"/>
          </p:cNvSpPr>
          <p:nvPr>
            <p:ph type="body" sz="quarter" idx="13"/>
          </p:nvPr>
        </p:nvSpPr>
        <p:spPr/>
        <p:txBody>
          <a:bodyPr/>
          <a:lstStyle/>
          <a:p>
            <a:r>
              <a:rPr lang="en-GB"/>
              <a:t>Modelled based on </a:t>
            </a:r>
            <a:r>
              <a:rPr lang="en-GB">
                <a:solidFill>
                  <a:srgbClr val="FF0000"/>
                </a:solidFill>
              </a:rPr>
              <a:t>500</a:t>
            </a:r>
            <a:r>
              <a:rPr lang="en-GB"/>
              <a:t> hrs per year</a:t>
            </a:r>
          </a:p>
        </p:txBody>
      </p:sp>
      <p:pic>
        <p:nvPicPr>
          <p:cNvPr id="2" name="Picture 1">
            <a:extLst>
              <a:ext uri="{FF2B5EF4-FFF2-40B4-BE49-F238E27FC236}">
                <a16:creationId xmlns:a16="http://schemas.microsoft.com/office/drawing/2014/main" id="{DE3A31CF-676B-D264-59A3-5C1FC8F4AA78}"/>
              </a:ext>
            </a:extLst>
          </p:cNvPr>
          <p:cNvPicPr>
            <a:picLocks noChangeAspect="1"/>
          </p:cNvPicPr>
          <p:nvPr/>
        </p:nvPicPr>
        <p:blipFill>
          <a:blip r:embed="rId3"/>
          <a:stretch>
            <a:fillRect/>
          </a:stretch>
        </p:blipFill>
        <p:spPr>
          <a:xfrm>
            <a:off x="3941685" y="6336471"/>
            <a:ext cx="3623816" cy="521529"/>
          </a:xfrm>
          <a:prstGeom prst="rect">
            <a:avLst/>
          </a:prstGeom>
        </p:spPr>
      </p:pic>
      <p:sp>
        <p:nvSpPr>
          <p:cNvPr id="28" name="Speech Bubble: Rectangle 27">
            <a:extLst>
              <a:ext uri="{FF2B5EF4-FFF2-40B4-BE49-F238E27FC236}">
                <a16:creationId xmlns:a16="http://schemas.microsoft.com/office/drawing/2014/main" id="{3EAE7DAC-0578-A461-6A73-795A00B51345}"/>
              </a:ext>
            </a:extLst>
          </p:cNvPr>
          <p:cNvSpPr/>
          <p:nvPr/>
        </p:nvSpPr>
        <p:spPr>
          <a:xfrm>
            <a:off x="2044819" y="4243527"/>
            <a:ext cx="1580226" cy="754692"/>
          </a:xfrm>
          <a:prstGeom prst="wedgeRectCallout">
            <a:avLst>
              <a:gd name="adj1" fmla="val 74448"/>
              <a:gd name="adj2" fmla="val 48860"/>
            </a:avLst>
          </a:prstGeom>
          <a:solidFill>
            <a:srgbClr val="FF0000">
              <a:alpha val="1882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GB" sz="1000" b="1">
                <a:solidFill>
                  <a:schemeClr val="tx2">
                    <a:lumMod val="75000"/>
                  </a:schemeClr>
                </a:solidFill>
              </a:rPr>
              <a:t>2021: 967 hrs/2133 hrs</a:t>
            </a:r>
          </a:p>
          <a:p>
            <a:pPr marL="171450" indent="-171450">
              <a:buFont typeface="Arial" panose="020B0604020202020204" pitchFamily="34" charset="0"/>
              <a:buChar char="•"/>
            </a:pPr>
            <a:r>
              <a:rPr lang="en-GB" sz="1000">
                <a:solidFill>
                  <a:schemeClr val="tx2">
                    <a:lumMod val="75000"/>
                  </a:schemeClr>
                </a:solidFill>
              </a:rPr>
              <a:t>1000 hr service</a:t>
            </a:r>
          </a:p>
          <a:p>
            <a:pPr marL="171450" indent="-171450">
              <a:buFont typeface="Arial" panose="020B0604020202020204" pitchFamily="34" charset="0"/>
              <a:buChar char="•"/>
            </a:pPr>
            <a:r>
              <a:rPr lang="en-GB" sz="1000">
                <a:solidFill>
                  <a:schemeClr val="tx2">
                    <a:lumMod val="75000"/>
                  </a:schemeClr>
                </a:solidFill>
              </a:rPr>
              <a:t>Powertrain Split &amp; Diff Rebuild</a:t>
            </a:r>
          </a:p>
        </p:txBody>
      </p:sp>
      <p:sp>
        <p:nvSpPr>
          <p:cNvPr id="29" name="Speech Bubble: Rectangle 28">
            <a:extLst>
              <a:ext uri="{FF2B5EF4-FFF2-40B4-BE49-F238E27FC236}">
                <a16:creationId xmlns:a16="http://schemas.microsoft.com/office/drawing/2014/main" id="{7FE4A50D-5BD4-B6B4-6B93-6BD8AFD03FA4}"/>
              </a:ext>
            </a:extLst>
          </p:cNvPr>
          <p:cNvSpPr/>
          <p:nvPr/>
        </p:nvSpPr>
        <p:spPr>
          <a:xfrm>
            <a:off x="2044819" y="3419383"/>
            <a:ext cx="2377736" cy="754692"/>
          </a:xfrm>
          <a:prstGeom prst="wedgeRectCallout">
            <a:avLst>
              <a:gd name="adj1" fmla="val 51017"/>
              <a:gd name="adj2" fmla="val 135908"/>
            </a:avLst>
          </a:prstGeom>
          <a:solidFill>
            <a:srgbClr val="FF0000">
              <a:alpha val="1882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GB" sz="1000" b="1">
                <a:solidFill>
                  <a:schemeClr val="tx2">
                    <a:lumMod val="75000"/>
                  </a:schemeClr>
                </a:solidFill>
              </a:rPr>
              <a:t>2022: Hours Not Listed/2133 hrs (?)</a:t>
            </a:r>
          </a:p>
          <a:p>
            <a:pPr marL="171450" indent="-171450">
              <a:buFont typeface="Arial" panose="020B0604020202020204" pitchFamily="34" charset="0"/>
              <a:buChar char="•"/>
            </a:pPr>
            <a:r>
              <a:rPr lang="en-GB" sz="1000">
                <a:solidFill>
                  <a:schemeClr val="tx2">
                    <a:lumMod val="75000"/>
                  </a:schemeClr>
                </a:solidFill>
              </a:rPr>
              <a:t>Rear Hydraulic Lift Arm Repair</a:t>
            </a:r>
          </a:p>
          <a:p>
            <a:pPr marL="171450" indent="-171450">
              <a:buFont typeface="Arial" panose="020B0604020202020204" pitchFamily="34" charset="0"/>
              <a:buChar char="•"/>
            </a:pPr>
            <a:r>
              <a:rPr lang="en-GB" sz="1000">
                <a:solidFill>
                  <a:schemeClr val="tx2">
                    <a:lumMod val="75000"/>
                  </a:schemeClr>
                </a:solidFill>
              </a:rPr>
              <a:t>Stud Repair &amp; Filter Service</a:t>
            </a:r>
          </a:p>
          <a:p>
            <a:pPr marL="171450" indent="-171450">
              <a:buFont typeface="Arial" panose="020B0604020202020204" pitchFamily="34" charset="0"/>
              <a:buChar char="•"/>
            </a:pPr>
            <a:r>
              <a:rPr lang="en-GB" sz="1000">
                <a:solidFill>
                  <a:schemeClr val="tx2">
                    <a:lumMod val="75000"/>
                  </a:schemeClr>
                </a:solidFill>
              </a:rPr>
              <a:t>Starter Diagnosis</a:t>
            </a:r>
          </a:p>
        </p:txBody>
      </p:sp>
      <p:sp>
        <p:nvSpPr>
          <p:cNvPr id="30" name="Speech Bubble: Rectangle 29">
            <a:extLst>
              <a:ext uri="{FF2B5EF4-FFF2-40B4-BE49-F238E27FC236}">
                <a16:creationId xmlns:a16="http://schemas.microsoft.com/office/drawing/2014/main" id="{8FD8797F-D886-86F8-6FF4-D29B48E2E243}"/>
              </a:ext>
            </a:extLst>
          </p:cNvPr>
          <p:cNvSpPr/>
          <p:nvPr/>
        </p:nvSpPr>
        <p:spPr>
          <a:xfrm>
            <a:off x="2044819" y="1953087"/>
            <a:ext cx="3406070" cy="692459"/>
          </a:xfrm>
          <a:prstGeom prst="wedgeRectCallout">
            <a:avLst>
              <a:gd name="adj1" fmla="val 46152"/>
              <a:gd name="adj2" fmla="val 290705"/>
            </a:avLst>
          </a:prstGeom>
          <a:solidFill>
            <a:srgbClr val="FF0000">
              <a:alpha val="1882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GB" sz="1000" b="1">
                <a:solidFill>
                  <a:schemeClr val="tx2">
                    <a:lumMod val="75000"/>
                  </a:schemeClr>
                </a:solidFill>
              </a:rPr>
              <a:t>2024: Hours Not Listed</a:t>
            </a:r>
          </a:p>
          <a:p>
            <a:pPr marL="171450" indent="-171450">
              <a:buFont typeface="Arial" panose="020B0604020202020204" pitchFamily="34" charset="0"/>
              <a:buChar char="•"/>
            </a:pPr>
            <a:r>
              <a:rPr lang="en-GB" sz="1000">
                <a:solidFill>
                  <a:schemeClr val="tx2">
                    <a:lumMod val="75000"/>
                  </a:schemeClr>
                </a:solidFill>
              </a:rPr>
              <a:t>Drivetrain Overhaul: new flywheel assembly, new double clutch kit with clutch discs, renewing rear main oil seals, replacing release bearing assembly</a:t>
            </a:r>
          </a:p>
        </p:txBody>
      </p:sp>
      <p:sp>
        <p:nvSpPr>
          <p:cNvPr id="31" name="Speech Bubble: Rectangle 30">
            <a:extLst>
              <a:ext uri="{FF2B5EF4-FFF2-40B4-BE49-F238E27FC236}">
                <a16:creationId xmlns:a16="http://schemas.microsoft.com/office/drawing/2014/main" id="{8BDA7030-F663-A014-8447-0A5D7430986F}"/>
              </a:ext>
            </a:extLst>
          </p:cNvPr>
          <p:cNvSpPr/>
          <p:nvPr/>
        </p:nvSpPr>
        <p:spPr>
          <a:xfrm>
            <a:off x="2044819" y="2744679"/>
            <a:ext cx="2377736" cy="633365"/>
          </a:xfrm>
          <a:prstGeom prst="wedgeRectCallout">
            <a:avLst>
              <a:gd name="adj1" fmla="val 62591"/>
              <a:gd name="adj2" fmla="val 206916"/>
            </a:avLst>
          </a:prstGeom>
          <a:solidFill>
            <a:srgbClr val="FF0000">
              <a:alpha val="1882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GB" sz="1000" b="1">
                <a:solidFill>
                  <a:schemeClr val="tx2">
                    <a:lumMod val="75000"/>
                  </a:schemeClr>
                </a:solidFill>
              </a:rPr>
              <a:t>2023: Hours Not Listed</a:t>
            </a:r>
          </a:p>
          <a:p>
            <a:pPr marL="171450" indent="-171450">
              <a:buFont typeface="Arial" panose="020B0604020202020204" pitchFamily="34" charset="0"/>
              <a:buChar char="•"/>
            </a:pPr>
            <a:r>
              <a:rPr lang="en-GB" sz="1000">
                <a:solidFill>
                  <a:schemeClr val="tx2">
                    <a:lumMod val="75000"/>
                  </a:schemeClr>
                </a:solidFill>
              </a:rPr>
              <a:t>Starter Motor Replacement (6k)</a:t>
            </a:r>
          </a:p>
          <a:p>
            <a:pPr marL="171450" indent="-171450">
              <a:buFont typeface="Arial" panose="020B0604020202020204" pitchFamily="34" charset="0"/>
              <a:buChar char="•"/>
            </a:pPr>
            <a:r>
              <a:rPr lang="en-GB" sz="1000">
                <a:solidFill>
                  <a:schemeClr val="tx2">
                    <a:lumMod val="75000"/>
                  </a:schemeClr>
                </a:solidFill>
              </a:rPr>
              <a:t>Clutch Overhaul (54k)</a:t>
            </a:r>
          </a:p>
        </p:txBody>
      </p:sp>
      <p:sp>
        <p:nvSpPr>
          <p:cNvPr id="32" name="Speech Bubble: Rectangle 31">
            <a:extLst>
              <a:ext uri="{FF2B5EF4-FFF2-40B4-BE49-F238E27FC236}">
                <a16:creationId xmlns:a16="http://schemas.microsoft.com/office/drawing/2014/main" id="{046000A0-1423-85DC-F091-CCC5DDF343C8}"/>
              </a:ext>
            </a:extLst>
          </p:cNvPr>
          <p:cNvSpPr/>
          <p:nvPr/>
        </p:nvSpPr>
        <p:spPr>
          <a:xfrm>
            <a:off x="5788241" y="1839158"/>
            <a:ext cx="4190260" cy="868532"/>
          </a:xfrm>
          <a:prstGeom prst="wedgeRectCallout">
            <a:avLst>
              <a:gd name="adj1" fmla="val -51166"/>
              <a:gd name="adj2" fmla="val 73258"/>
            </a:avLst>
          </a:prstGeom>
          <a:solidFill>
            <a:srgbClr val="FF0000">
              <a:alpha val="1882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GB" sz="1000" b="1">
                <a:solidFill>
                  <a:schemeClr val="tx2">
                    <a:lumMod val="75000"/>
                  </a:schemeClr>
                </a:solidFill>
              </a:rPr>
              <a:t>2025: Hours Not Listed/4316 hrs</a:t>
            </a:r>
          </a:p>
          <a:p>
            <a:pPr marL="171450" indent="-171450">
              <a:buFont typeface="Arial" panose="020B0604020202020204" pitchFamily="34" charset="0"/>
              <a:buChar char="•"/>
            </a:pPr>
            <a:r>
              <a:rPr lang="en-GB" sz="1000">
                <a:solidFill>
                  <a:schemeClr val="tx2">
                    <a:lumMod val="75000"/>
                  </a:schemeClr>
                </a:solidFill>
              </a:rPr>
              <a:t>Cylinder Head Rebuild &amp; Top-End, Scheduled filters and fuel service (114k)</a:t>
            </a:r>
          </a:p>
          <a:p>
            <a:pPr marL="171450" indent="-171450">
              <a:buFont typeface="Arial" panose="020B0604020202020204" pitchFamily="34" charset="0"/>
              <a:buChar char="•"/>
            </a:pPr>
            <a:r>
              <a:rPr lang="en-GB" sz="1000">
                <a:solidFill>
                  <a:schemeClr val="tx2">
                    <a:lumMod val="75000"/>
                  </a:schemeClr>
                </a:solidFill>
              </a:rPr>
              <a:t>Non-Start Wiring Harness Repair</a:t>
            </a:r>
          </a:p>
          <a:p>
            <a:pPr marL="171450" indent="-171450">
              <a:buFont typeface="Arial" panose="020B0604020202020204" pitchFamily="34" charset="0"/>
              <a:buChar char="•"/>
            </a:pPr>
            <a:r>
              <a:rPr lang="en-GB" sz="1000">
                <a:solidFill>
                  <a:schemeClr val="tx2">
                    <a:lumMod val="75000"/>
                  </a:schemeClr>
                </a:solidFill>
              </a:rPr>
              <a:t>Double Clutch &amp; Crank Seal (56k)</a:t>
            </a:r>
          </a:p>
          <a:p>
            <a:pPr marL="171450" indent="-171450">
              <a:buFont typeface="Arial" panose="020B0604020202020204" pitchFamily="34" charset="0"/>
              <a:buChar char="•"/>
            </a:pPr>
            <a:r>
              <a:rPr lang="en-GB" sz="1000">
                <a:solidFill>
                  <a:schemeClr val="tx2">
                    <a:lumMod val="75000"/>
                  </a:schemeClr>
                </a:solidFill>
              </a:rPr>
              <a:t>Slasher Gearbox (26k)</a:t>
            </a:r>
          </a:p>
        </p:txBody>
      </p:sp>
      <p:sp>
        <p:nvSpPr>
          <p:cNvPr id="33" name="Speech Bubble: Rectangle 32">
            <a:extLst>
              <a:ext uri="{FF2B5EF4-FFF2-40B4-BE49-F238E27FC236}">
                <a16:creationId xmlns:a16="http://schemas.microsoft.com/office/drawing/2014/main" id="{22068C50-EFD9-C662-2BDD-0A50EF317F07}"/>
              </a:ext>
            </a:extLst>
          </p:cNvPr>
          <p:cNvSpPr/>
          <p:nvPr/>
        </p:nvSpPr>
        <p:spPr>
          <a:xfrm>
            <a:off x="6313503" y="2852690"/>
            <a:ext cx="3673876" cy="1239915"/>
          </a:xfrm>
          <a:prstGeom prst="wedgeRectCallout">
            <a:avLst>
              <a:gd name="adj1" fmla="val -52105"/>
              <a:gd name="adj2" fmla="val 64464"/>
            </a:avLst>
          </a:prstGeom>
          <a:solidFill>
            <a:srgbClr val="FF0000">
              <a:alpha val="1882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GB" sz="1000" b="1">
                <a:solidFill>
                  <a:schemeClr val="tx2">
                    <a:lumMod val="75000"/>
                  </a:schemeClr>
                </a:solidFill>
              </a:rPr>
              <a:t>2026: Hours Not Listed/2236/1937 hrs</a:t>
            </a:r>
          </a:p>
          <a:p>
            <a:pPr marL="171450" indent="-171450">
              <a:buFont typeface="Arial" panose="020B0604020202020204" pitchFamily="34" charset="0"/>
              <a:buChar char="•"/>
            </a:pPr>
            <a:r>
              <a:rPr lang="en-GB" sz="1000">
                <a:solidFill>
                  <a:schemeClr val="tx2">
                    <a:lumMod val="75000"/>
                  </a:schemeClr>
                </a:solidFill>
              </a:rPr>
              <a:t>Repairs (awaiting invoice, 21k)</a:t>
            </a:r>
          </a:p>
          <a:p>
            <a:pPr marL="171450" indent="-171450">
              <a:buFont typeface="Arial" panose="020B0604020202020204" pitchFamily="34" charset="0"/>
              <a:buChar char="•"/>
            </a:pPr>
            <a:r>
              <a:rPr lang="en-GB" sz="1000">
                <a:solidFill>
                  <a:schemeClr val="tx2">
                    <a:lumMod val="75000"/>
                  </a:schemeClr>
                </a:solidFill>
              </a:rPr>
              <a:t>Various: Water Pipe &amp; 4x4 Sensor, PTO Shaft &amp; Joint Assembly, Gear Lever Replacement &amp; Linkage (11k)</a:t>
            </a:r>
          </a:p>
          <a:p>
            <a:pPr marL="171450" indent="-171450">
              <a:buFont typeface="Arial" panose="020B0604020202020204" pitchFamily="34" charset="0"/>
              <a:buChar char="•"/>
            </a:pPr>
            <a:r>
              <a:rPr lang="en-GB" sz="1000">
                <a:solidFill>
                  <a:schemeClr val="tx2">
                    <a:lumMod val="75000"/>
                  </a:schemeClr>
                </a:solidFill>
              </a:rPr>
              <a:t>New Starter (26k)</a:t>
            </a:r>
          </a:p>
          <a:p>
            <a:pPr marL="171450" indent="-171450">
              <a:buFont typeface="Arial" panose="020B0604020202020204" pitchFamily="34" charset="0"/>
              <a:buChar char="•"/>
            </a:pPr>
            <a:r>
              <a:rPr lang="en-GB" sz="1000">
                <a:solidFill>
                  <a:schemeClr val="tx2">
                    <a:lumMod val="75000"/>
                  </a:schemeClr>
                </a:solidFill>
              </a:rPr>
              <a:t>Rear Lift Arm &amp; Bushing Rebuild (26k)</a:t>
            </a:r>
          </a:p>
          <a:p>
            <a:pPr marL="171450" indent="-171450">
              <a:buFont typeface="Arial" panose="020B0604020202020204" pitchFamily="34" charset="0"/>
              <a:buChar char="•"/>
            </a:pPr>
            <a:r>
              <a:rPr lang="en-GB" sz="1000">
                <a:solidFill>
                  <a:schemeClr val="tx2">
                    <a:lumMod val="75000"/>
                  </a:schemeClr>
                </a:solidFill>
              </a:rPr>
              <a:t>Seal Split Repair &amp; Orbital Overhaul (20k)</a:t>
            </a:r>
          </a:p>
          <a:p>
            <a:pPr marL="171450" indent="-171450">
              <a:buFont typeface="Arial" panose="020B0604020202020204" pitchFamily="34" charset="0"/>
              <a:buChar char="•"/>
            </a:pPr>
            <a:endParaRPr lang="en-GB" sz="1000">
              <a:solidFill>
                <a:schemeClr val="tx2">
                  <a:lumMod val="75000"/>
                </a:schemeClr>
              </a:solidFill>
            </a:endParaRPr>
          </a:p>
        </p:txBody>
      </p:sp>
    </p:spTree>
    <p:extLst>
      <p:ext uri="{BB962C8B-B14F-4D97-AF65-F5344CB8AC3E}">
        <p14:creationId xmlns:p14="http://schemas.microsoft.com/office/powerpoint/2010/main" val="32582739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6">
                                            <p:graphicEl>
                                              <a:chart seriesIdx="0" categoryIdx="-4" bldStep="series"/>
                                            </p:graphicEl>
                                          </p:spTgt>
                                        </p:tgtEl>
                                        <p:attrNameLst>
                                          <p:attrName>style.visibility</p:attrName>
                                        </p:attrNameLst>
                                      </p:cBhvr>
                                      <p:to>
                                        <p:strVal val="visible"/>
                                      </p:to>
                                    </p:set>
                                    <p:animEffect transition="in" filter="fade">
                                      <p:cBhvr>
                                        <p:cTn id="7" dur="500"/>
                                        <p:tgtEl>
                                          <p:spTgt spid="36">
                                            <p:graphicEl>
                                              <a:chart seriesIdx="0" categoryIdx="-4" bldStep="series"/>
                                            </p:graphic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6">
                                            <p:graphicEl>
                                              <a:chart seriesIdx="1" categoryIdx="-4" bldStep="series"/>
                                            </p:graphicEl>
                                          </p:spTgt>
                                        </p:tgtEl>
                                        <p:attrNameLst>
                                          <p:attrName>style.visibility</p:attrName>
                                        </p:attrNameLst>
                                      </p:cBhvr>
                                      <p:to>
                                        <p:strVal val="visible"/>
                                      </p:to>
                                    </p:set>
                                    <p:animEffect transition="in" filter="fade">
                                      <p:cBhvr>
                                        <p:cTn id="12" dur="500"/>
                                        <p:tgtEl>
                                          <p:spTgt spid="36">
                                            <p:graphicEl>
                                              <a:chart seriesIdx="1" categoryIdx="-4" bldStep="series"/>
                                            </p:graphic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6">
                                            <p:graphicEl>
                                              <a:chart seriesIdx="2" categoryIdx="-4" bldStep="series"/>
                                            </p:graphicEl>
                                          </p:spTgt>
                                        </p:tgtEl>
                                        <p:attrNameLst>
                                          <p:attrName>style.visibility</p:attrName>
                                        </p:attrNameLst>
                                      </p:cBhvr>
                                      <p:to>
                                        <p:strVal val="visible"/>
                                      </p:to>
                                    </p:set>
                                    <p:animEffect transition="in" filter="fade">
                                      <p:cBhvr>
                                        <p:cTn id="17" dur="500"/>
                                        <p:tgtEl>
                                          <p:spTgt spid="36">
                                            <p:graphicEl>
                                              <a:chart seriesIdx="2" categoryIdx="-4" bldStep="series"/>
                                            </p:graphic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6">
                                            <p:graphicEl>
                                              <a:chart seriesIdx="3" categoryIdx="-4" bldStep="series"/>
                                            </p:graphicEl>
                                          </p:spTgt>
                                        </p:tgtEl>
                                        <p:attrNameLst>
                                          <p:attrName>style.visibility</p:attrName>
                                        </p:attrNameLst>
                                      </p:cBhvr>
                                      <p:to>
                                        <p:strVal val="visible"/>
                                      </p:to>
                                    </p:set>
                                    <p:animEffect transition="in" filter="fade">
                                      <p:cBhvr>
                                        <p:cTn id="22" dur="500"/>
                                        <p:tgtEl>
                                          <p:spTgt spid="36">
                                            <p:graphicEl>
                                              <a:chart seriesIdx="3" categoryIdx="-4" bldStep="series"/>
                                            </p:graphic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28"/>
                                        </p:tgtEl>
                                        <p:attrNameLst>
                                          <p:attrName>style.visibility</p:attrName>
                                        </p:attrNameLst>
                                      </p:cBhvr>
                                      <p:to>
                                        <p:strVal val="visible"/>
                                      </p:to>
                                    </p:set>
                                    <p:animEffect transition="in" filter="fade">
                                      <p:cBhvr>
                                        <p:cTn id="27" dur="500"/>
                                        <p:tgtEl>
                                          <p:spTgt spid="28"/>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29"/>
                                        </p:tgtEl>
                                        <p:attrNameLst>
                                          <p:attrName>style.visibility</p:attrName>
                                        </p:attrNameLst>
                                      </p:cBhvr>
                                      <p:to>
                                        <p:strVal val="visible"/>
                                      </p:to>
                                    </p:set>
                                    <p:animEffect transition="in" filter="fade">
                                      <p:cBhvr>
                                        <p:cTn id="32" dur="500"/>
                                        <p:tgtEl>
                                          <p:spTgt spid="29"/>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1"/>
                                        </p:tgtEl>
                                        <p:attrNameLst>
                                          <p:attrName>style.visibility</p:attrName>
                                        </p:attrNameLst>
                                      </p:cBhvr>
                                      <p:to>
                                        <p:strVal val="visible"/>
                                      </p:to>
                                    </p:set>
                                    <p:animEffect transition="in" filter="fade">
                                      <p:cBhvr>
                                        <p:cTn id="37" dur="500"/>
                                        <p:tgtEl>
                                          <p:spTgt spid="31"/>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0"/>
                                        </p:tgtEl>
                                        <p:attrNameLst>
                                          <p:attrName>style.visibility</p:attrName>
                                        </p:attrNameLst>
                                      </p:cBhvr>
                                      <p:to>
                                        <p:strVal val="visible"/>
                                      </p:to>
                                    </p:set>
                                    <p:animEffect transition="in" filter="fade">
                                      <p:cBhvr>
                                        <p:cTn id="42" dur="500"/>
                                        <p:tgtEl>
                                          <p:spTgt spid="30"/>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32"/>
                                        </p:tgtEl>
                                        <p:attrNameLst>
                                          <p:attrName>style.visibility</p:attrName>
                                        </p:attrNameLst>
                                      </p:cBhvr>
                                      <p:to>
                                        <p:strVal val="visible"/>
                                      </p:to>
                                    </p:set>
                                    <p:animEffect transition="in" filter="fade">
                                      <p:cBhvr>
                                        <p:cTn id="47" dur="500"/>
                                        <p:tgtEl>
                                          <p:spTgt spid="32"/>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33"/>
                                        </p:tgtEl>
                                        <p:attrNameLst>
                                          <p:attrName>style.visibility</p:attrName>
                                        </p:attrNameLst>
                                      </p:cBhvr>
                                      <p:to>
                                        <p:strVal val="visible"/>
                                      </p:to>
                                    </p:set>
                                    <p:animEffect transition="in" filter="fade">
                                      <p:cBhvr>
                                        <p:cTn id="52"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36" grpId="0">
        <p:bldSub>
          <a:bldChart bld="series"/>
        </p:bldSub>
      </p:bldGraphic>
      <p:bldP spid="28" grpId="0" animBg="1"/>
      <p:bldP spid="29" grpId="0" animBg="1"/>
      <p:bldP spid="30" grpId="0" animBg="1"/>
      <p:bldP spid="31" grpId="0" animBg="1"/>
      <p:bldP spid="32" grpId="0" animBg="1"/>
      <p:bldP spid="33"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C4C85E-C843-1348-76BB-DFF9DE98DCDD}"/>
              </a:ext>
            </a:extLst>
          </p:cNvPr>
          <p:cNvSpPr>
            <a:spLocks noGrp="1"/>
          </p:cNvSpPr>
          <p:nvPr>
            <p:ph type="title"/>
          </p:nvPr>
        </p:nvSpPr>
        <p:spPr/>
        <p:txBody>
          <a:bodyPr>
            <a:normAutofit fontScale="90000"/>
          </a:bodyPr>
          <a:lstStyle/>
          <a:p>
            <a:r>
              <a:rPr lang="en-GB"/>
              <a:t>Root cause analysis</a:t>
            </a:r>
          </a:p>
        </p:txBody>
      </p:sp>
      <p:graphicFrame>
        <p:nvGraphicFramePr>
          <p:cNvPr id="5" name="Content Placeholder 4">
            <a:extLst>
              <a:ext uri="{FF2B5EF4-FFF2-40B4-BE49-F238E27FC236}">
                <a16:creationId xmlns:a16="http://schemas.microsoft.com/office/drawing/2014/main" id="{08A4FCAD-2D01-D3DA-0F1E-17A57204FF15}"/>
              </a:ext>
            </a:extLst>
          </p:cNvPr>
          <p:cNvGraphicFramePr>
            <a:graphicFrameLocks noGrp="1"/>
          </p:cNvGraphicFramePr>
          <p:nvPr>
            <p:ph idx="1"/>
            <p:extLst>
              <p:ext uri="{D42A27DB-BD31-4B8C-83A1-F6EECF244321}">
                <p14:modId xmlns:p14="http://schemas.microsoft.com/office/powerpoint/2010/main" val="564850072"/>
              </p:ext>
            </p:extLst>
          </p:nvPr>
        </p:nvGraphicFramePr>
        <p:xfrm>
          <a:off x="1149790" y="2046083"/>
          <a:ext cx="10574448" cy="4556101"/>
        </p:xfrm>
        <a:graphic>
          <a:graphicData uri="http://schemas.openxmlformats.org/drawingml/2006/table">
            <a:tbl>
              <a:tblPr firstRow="1" firstCol="1" bandRow="1">
                <a:tableStyleId>{69012ECD-51FC-41F1-AA8D-1B2483CD663E}</a:tableStyleId>
              </a:tblPr>
              <a:tblGrid>
                <a:gridCol w="2643612">
                  <a:extLst>
                    <a:ext uri="{9D8B030D-6E8A-4147-A177-3AD203B41FA5}">
                      <a16:colId xmlns:a16="http://schemas.microsoft.com/office/drawing/2014/main" val="1186112648"/>
                    </a:ext>
                  </a:extLst>
                </a:gridCol>
                <a:gridCol w="2643612">
                  <a:extLst>
                    <a:ext uri="{9D8B030D-6E8A-4147-A177-3AD203B41FA5}">
                      <a16:colId xmlns:a16="http://schemas.microsoft.com/office/drawing/2014/main" val="3299533908"/>
                    </a:ext>
                  </a:extLst>
                </a:gridCol>
                <a:gridCol w="2643612">
                  <a:extLst>
                    <a:ext uri="{9D8B030D-6E8A-4147-A177-3AD203B41FA5}">
                      <a16:colId xmlns:a16="http://schemas.microsoft.com/office/drawing/2014/main" val="294078058"/>
                    </a:ext>
                  </a:extLst>
                </a:gridCol>
                <a:gridCol w="2643612">
                  <a:extLst>
                    <a:ext uri="{9D8B030D-6E8A-4147-A177-3AD203B41FA5}">
                      <a16:colId xmlns:a16="http://schemas.microsoft.com/office/drawing/2014/main" val="3425878112"/>
                    </a:ext>
                  </a:extLst>
                </a:gridCol>
              </a:tblGrid>
              <a:tr h="486268">
                <a:tc>
                  <a:txBody>
                    <a:bodyPr/>
                    <a:lstStyle/>
                    <a:p>
                      <a:pPr algn="ctr">
                        <a:lnSpc>
                          <a:spcPct val="150000"/>
                        </a:lnSpc>
                        <a:spcBef>
                          <a:spcPts val="1200"/>
                        </a:spcBef>
                        <a:spcAft>
                          <a:spcPts val="1200"/>
                        </a:spcAft>
                        <a:buNone/>
                      </a:pPr>
                      <a:r>
                        <a:rPr lang="en-GB" sz="1200" kern="100">
                          <a:effectLst/>
                        </a:rPr>
                        <a:t>Conclusion</a:t>
                      </a:r>
                      <a:endParaRPr lang="en-GB" sz="1200" kern="100">
                        <a:solidFill>
                          <a:srgbClr val="000000"/>
                        </a:solidFill>
                        <a:effectLst/>
                        <a:latin typeface="Arial" panose="020B0604020202020204" pitchFamily="34" charset="0"/>
                        <a:ea typeface="Aptos" panose="020B0004020202020204" pitchFamily="34" charset="0"/>
                        <a:cs typeface="Times New Roman" panose="02020603050405020304" pitchFamily="18" charset="0"/>
                      </a:endParaRPr>
                    </a:p>
                  </a:txBody>
                  <a:tcPr marL="7682" marR="7682" marT="7682" marB="7682" anchor="ctr"/>
                </a:tc>
                <a:tc>
                  <a:txBody>
                    <a:bodyPr/>
                    <a:lstStyle/>
                    <a:p>
                      <a:pPr algn="ctr">
                        <a:lnSpc>
                          <a:spcPct val="150000"/>
                        </a:lnSpc>
                        <a:spcBef>
                          <a:spcPts val="1200"/>
                        </a:spcBef>
                        <a:spcAft>
                          <a:spcPts val="1200"/>
                        </a:spcAft>
                        <a:buNone/>
                      </a:pPr>
                      <a:r>
                        <a:rPr lang="en-GB" sz="1200" kern="100">
                          <a:effectLst/>
                        </a:rPr>
                        <a:t>Financial &amp; Invoice Evidence</a:t>
                      </a:r>
                      <a:endParaRPr lang="en-GB" sz="1200" kern="100">
                        <a:solidFill>
                          <a:srgbClr val="000000"/>
                        </a:solidFill>
                        <a:effectLst/>
                        <a:latin typeface="Arial" panose="020B0604020202020204" pitchFamily="34" charset="0"/>
                        <a:ea typeface="Aptos" panose="020B0004020202020204" pitchFamily="34" charset="0"/>
                        <a:cs typeface="Times New Roman" panose="02020603050405020304" pitchFamily="18" charset="0"/>
                      </a:endParaRPr>
                    </a:p>
                  </a:txBody>
                  <a:tcPr marL="7682" marR="7682" marT="7682" marB="7682" anchor="ctr"/>
                </a:tc>
                <a:tc>
                  <a:txBody>
                    <a:bodyPr/>
                    <a:lstStyle/>
                    <a:p>
                      <a:pPr algn="ctr">
                        <a:lnSpc>
                          <a:spcPct val="150000"/>
                        </a:lnSpc>
                        <a:spcBef>
                          <a:spcPts val="1200"/>
                        </a:spcBef>
                        <a:spcAft>
                          <a:spcPts val="1200"/>
                        </a:spcAft>
                        <a:buNone/>
                      </a:pPr>
                      <a:r>
                        <a:rPr lang="en-GB" sz="1200" kern="100">
                          <a:effectLst/>
                        </a:rPr>
                        <a:t>Engineering &amp; Topographical Root Cause</a:t>
                      </a:r>
                      <a:endParaRPr lang="en-GB" sz="1200" kern="100">
                        <a:solidFill>
                          <a:srgbClr val="000000"/>
                        </a:solidFill>
                        <a:effectLst/>
                        <a:latin typeface="Arial" panose="020B0604020202020204" pitchFamily="34" charset="0"/>
                        <a:ea typeface="Aptos" panose="020B0004020202020204" pitchFamily="34" charset="0"/>
                        <a:cs typeface="Times New Roman" panose="02020603050405020304" pitchFamily="18" charset="0"/>
                      </a:endParaRPr>
                    </a:p>
                  </a:txBody>
                  <a:tcPr marL="7682" marR="7682" marT="7682" marB="7682" anchor="ctr"/>
                </a:tc>
                <a:tc>
                  <a:txBody>
                    <a:bodyPr/>
                    <a:lstStyle/>
                    <a:p>
                      <a:pPr algn="ctr">
                        <a:lnSpc>
                          <a:spcPct val="150000"/>
                        </a:lnSpc>
                        <a:spcBef>
                          <a:spcPts val="1200"/>
                        </a:spcBef>
                        <a:spcAft>
                          <a:spcPts val="1200"/>
                        </a:spcAft>
                        <a:buNone/>
                      </a:pPr>
                      <a:r>
                        <a:rPr lang="en-GB" sz="1200" kern="100">
                          <a:effectLst/>
                        </a:rPr>
                        <a:t>Tactical Management Action</a:t>
                      </a:r>
                      <a:endParaRPr lang="en-GB" sz="1200" kern="100">
                        <a:solidFill>
                          <a:srgbClr val="000000"/>
                        </a:solidFill>
                        <a:effectLst/>
                        <a:latin typeface="Arial" panose="020B0604020202020204" pitchFamily="34" charset="0"/>
                        <a:ea typeface="Aptos" panose="020B0004020202020204" pitchFamily="34" charset="0"/>
                        <a:cs typeface="Times New Roman" panose="02020603050405020304" pitchFamily="18" charset="0"/>
                      </a:endParaRPr>
                    </a:p>
                  </a:txBody>
                  <a:tcPr marL="7682" marR="7682" marT="7682" marB="7682" anchor="ctr"/>
                </a:tc>
                <a:extLst>
                  <a:ext uri="{0D108BD9-81ED-4DB2-BD59-A6C34878D82A}">
                    <a16:rowId xmlns:a16="http://schemas.microsoft.com/office/drawing/2014/main" val="2338572887"/>
                  </a:ext>
                </a:extLst>
              </a:tr>
              <a:tr h="1232144">
                <a:tc>
                  <a:txBody>
                    <a:bodyPr/>
                    <a:lstStyle/>
                    <a:p>
                      <a:pPr algn="l">
                        <a:lnSpc>
                          <a:spcPct val="150000"/>
                        </a:lnSpc>
                        <a:spcBef>
                          <a:spcPts val="1200"/>
                        </a:spcBef>
                        <a:spcAft>
                          <a:spcPts val="1200"/>
                        </a:spcAft>
                        <a:buNone/>
                      </a:pPr>
                      <a:r>
                        <a:rPr lang="en-GB" sz="1600"/>
                        <a:t>Severe Operator Overloading or "Clutch Riding”</a:t>
                      </a:r>
                      <a:endParaRPr lang="en-GB" sz="1600" kern="100">
                        <a:solidFill>
                          <a:srgbClr val="000000"/>
                        </a:solidFill>
                        <a:effectLst/>
                        <a:latin typeface="Arial" panose="020B0604020202020204" pitchFamily="34" charset="0"/>
                        <a:ea typeface="Aptos" panose="020B0004020202020204" pitchFamily="34" charset="0"/>
                        <a:cs typeface="Times New Roman" panose="02020603050405020304" pitchFamily="18" charset="0"/>
                      </a:endParaRPr>
                    </a:p>
                  </a:txBody>
                  <a:tcPr marL="7682" marR="7682" marT="7682" marB="7682"/>
                </a:tc>
                <a:tc>
                  <a:txBody>
                    <a:bodyPr/>
                    <a:lstStyle/>
                    <a:p>
                      <a:pPr marL="171450" indent="-171450" algn="l">
                        <a:lnSpc>
                          <a:spcPct val="150000"/>
                        </a:lnSpc>
                        <a:spcBef>
                          <a:spcPts val="0"/>
                        </a:spcBef>
                        <a:spcAft>
                          <a:spcPts val="0"/>
                        </a:spcAft>
                        <a:buFont typeface="Arial" panose="020B0604020202020204" pitchFamily="34" charset="0"/>
                        <a:buChar char="•"/>
                      </a:pPr>
                      <a:r>
                        <a:rPr lang="en-GB" sz="1200" kern="100">
                          <a:effectLst/>
                        </a:rPr>
                        <a:t>4 Clutch overhauls/flywheel skims (2021–2026).</a:t>
                      </a:r>
                    </a:p>
                    <a:p>
                      <a:pPr marL="171450" indent="-171450" algn="l">
                        <a:lnSpc>
                          <a:spcPct val="150000"/>
                        </a:lnSpc>
                        <a:spcBef>
                          <a:spcPts val="0"/>
                        </a:spcBef>
                        <a:spcAft>
                          <a:spcPts val="0"/>
                        </a:spcAft>
                        <a:buFont typeface="Arial" panose="020B0604020202020204" pitchFamily="34" charset="0"/>
                        <a:buChar char="•"/>
                      </a:pPr>
                      <a:r>
                        <a:rPr lang="en-GB" sz="1200" kern="100">
                          <a:effectLst/>
                        </a:rPr>
                        <a:t>Multiple Rear Main Crankshaft Oil Seal kits.</a:t>
                      </a:r>
                      <a:endParaRPr lang="en-GB" sz="1200" kern="100">
                        <a:solidFill>
                          <a:srgbClr val="000000"/>
                        </a:solidFill>
                        <a:effectLst/>
                        <a:latin typeface="Arial" panose="020B0604020202020204" pitchFamily="34" charset="0"/>
                        <a:ea typeface="Aptos" panose="020B0004020202020204" pitchFamily="34" charset="0"/>
                        <a:cs typeface="Times New Roman" panose="02020603050405020304" pitchFamily="18" charset="0"/>
                      </a:endParaRPr>
                    </a:p>
                  </a:txBody>
                  <a:tcPr marL="7682" marR="7682" marT="7682" marB="7682" anchor="ctr"/>
                </a:tc>
                <a:tc>
                  <a:txBody>
                    <a:bodyPr/>
                    <a:lstStyle/>
                    <a:p>
                      <a:pPr marL="171450" indent="-171450" algn="l">
                        <a:lnSpc>
                          <a:spcPct val="150000"/>
                        </a:lnSpc>
                        <a:spcBef>
                          <a:spcPts val="0"/>
                        </a:spcBef>
                        <a:spcAft>
                          <a:spcPts val="0"/>
                        </a:spcAft>
                        <a:buFont typeface="Arial" panose="020B0604020202020204" pitchFamily="34" charset="0"/>
                        <a:buChar char="•"/>
                      </a:pPr>
                      <a:r>
                        <a:rPr lang="en-GB" sz="1200" kern="100">
                          <a:effectLst/>
                        </a:rPr>
                        <a:t>Operator Error + Steep Slopes: Drivers ride clutch. </a:t>
                      </a:r>
                    </a:p>
                    <a:p>
                      <a:pPr marL="171450" indent="-171450" algn="l">
                        <a:lnSpc>
                          <a:spcPct val="150000"/>
                        </a:lnSpc>
                        <a:spcBef>
                          <a:spcPts val="0"/>
                        </a:spcBef>
                        <a:spcAft>
                          <a:spcPts val="0"/>
                        </a:spcAft>
                        <a:buFont typeface="Arial" panose="020B0604020202020204" pitchFamily="34" charset="0"/>
                        <a:buChar char="•"/>
                      </a:pPr>
                      <a:r>
                        <a:rPr lang="en-GB" sz="1200" kern="100">
                          <a:effectLst/>
                        </a:rPr>
                        <a:t>Steep firebreaks pool engine oil against rear main seal. Friction heat degrades seal, coating plates in oil</a:t>
                      </a:r>
                      <a:endParaRPr lang="en-GB" sz="1200" kern="100">
                        <a:solidFill>
                          <a:srgbClr val="000000"/>
                        </a:solidFill>
                        <a:effectLst/>
                        <a:latin typeface="Arial" panose="020B0604020202020204" pitchFamily="34" charset="0"/>
                        <a:ea typeface="Aptos" panose="020B0004020202020204" pitchFamily="34" charset="0"/>
                        <a:cs typeface="Times New Roman" panose="02020603050405020304" pitchFamily="18" charset="0"/>
                      </a:endParaRPr>
                    </a:p>
                  </a:txBody>
                  <a:tcPr marL="7682" marR="7682" marT="7682" marB="7682" anchor="ctr"/>
                </a:tc>
                <a:tc>
                  <a:txBody>
                    <a:bodyPr/>
                    <a:lstStyle/>
                    <a:p>
                      <a:pPr marL="171450" indent="-171450" algn="l">
                        <a:lnSpc>
                          <a:spcPct val="150000"/>
                        </a:lnSpc>
                        <a:spcBef>
                          <a:spcPts val="0"/>
                        </a:spcBef>
                        <a:spcAft>
                          <a:spcPts val="0"/>
                        </a:spcAft>
                        <a:buFont typeface="Arial" panose="020B0604020202020204" pitchFamily="34" charset="0"/>
                        <a:buChar char="•"/>
                      </a:pPr>
                      <a:r>
                        <a:rPr lang="en-GB" sz="1200" kern="100">
                          <a:effectLst/>
                        </a:rPr>
                        <a:t>Enforce Low Range (Gears L1–L3).</a:t>
                      </a:r>
                      <a:br>
                        <a:rPr lang="en-GB" sz="1200" kern="100">
                          <a:effectLst/>
                        </a:rPr>
                      </a:br>
                      <a:r>
                        <a:rPr lang="en-GB" sz="1200" kern="100">
                          <a:effectLst/>
                        </a:rPr>
                        <a:t>Mandatory driver gear training.</a:t>
                      </a:r>
                    </a:p>
                    <a:p>
                      <a:pPr marL="171450" indent="-171450" algn="l">
                        <a:lnSpc>
                          <a:spcPct val="150000"/>
                        </a:lnSpc>
                        <a:spcBef>
                          <a:spcPts val="0"/>
                        </a:spcBef>
                        <a:spcAft>
                          <a:spcPts val="0"/>
                        </a:spcAft>
                        <a:buFont typeface="Arial" panose="020B0604020202020204" pitchFamily="34" charset="0"/>
                        <a:buChar char="•"/>
                      </a:pPr>
                      <a:r>
                        <a:rPr lang="en-GB" sz="1200" kern="100">
                          <a:effectLst/>
                        </a:rPr>
                        <a:t>Consider moving to Power Shuttle/Hydrostatic tractor</a:t>
                      </a:r>
                      <a:endParaRPr lang="en-GB" sz="1200" kern="100">
                        <a:solidFill>
                          <a:srgbClr val="000000"/>
                        </a:solidFill>
                        <a:effectLst/>
                        <a:latin typeface="Arial" panose="020B0604020202020204" pitchFamily="34" charset="0"/>
                        <a:ea typeface="Aptos" panose="020B0004020202020204" pitchFamily="34" charset="0"/>
                        <a:cs typeface="Times New Roman" panose="02020603050405020304" pitchFamily="18" charset="0"/>
                      </a:endParaRPr>
                    </a:p>
                  </a:txBody>
                  <a:tcPr marL="7682" marR="7682" marT="7682" marB="7682" anchor="ctr"/>
                </a:tc>
                <a:extLst>
                  <a:ext uri="{0D108BD9-81ED-4DB2-BD59-A6C34878D82A}">
                    <a16:rowId xmlns:a16="http://schemas.microsoft.com/office/drawing/2014/main" val="4120999546"/>
                  </a:ext>
                </a:extLst>
              </a:tr>
              <a:tr h="1232144">
                <a:tc>
                  <a:txBody>
                    <a:bodyPr/>
                    <a:lstStyle/>
                    <a:p>
                      <a:pPr algn="l">
                        <a:lnSpc>
                          <a:spcPct val="150000"/>
                        </a:lnSpc>
                        <a:spcBef>
                          <a:spcPts val="1200"/>
                        </a:spcBef>
                        <a:spcAft>
                          <a:spcPts val="1200"/>
                        </a:spcAft>
                        <a:buNone/>
                      </a:pPr>
                      <a:r>
                        <a:rPr lang="en-GB" sz="1600"/>
                        <a:t>Lack of thorough Daily Inspections &amp; Terrain Impact</a:t>
                      </a:r>
                      <a:endParaRPr lang="en-GB" sz="1600" kern="100">
                        <a:solidFill>
                          <a:srgbClr val="000000"/>
                        </a:solidFill>
                        <a:effectLst/>
                        <a:latin typeface="Arial" panose="020B0604020202020204" pitchFamily="34" charset="0"/>
                        <a:ea typeface="Aptos" panose="020B0004020202020204" pitchFamily="34" charset="0"/>
                        <a:cs typeface="Times New Roman" panose="02020603050405020304" pitchFamily="18" charset="0"/>
                      </a:endParaRPr>
                    </a:p>
                  </a:txBody>
                  <a:tcPr marL="7682" marR="7682" marT="7682" marB="7682"/>
                </a:tc>
                <a:tc>
                  <a:txBody>
                    <a:bodyPr/>
                    <a:lstStyle/>
                    <a:p>
                      <a:pPr marL="171450" indent="-171450" algn="l">
                        <a:lnSpc>
                          <a:spcPct val="150000"/>
                        </a:lnSpc>
                        <a:spcBef>
                          <a:spcPts val="0"/>
                        </a:spcBef>
                        <a:spcAft>
                          <a:spcPts val="0"/>
                        </a:spcAft>
                        <a:buFont typeface="Arial" panose="020B0604020202020204" pitchFamily="34" charset="0"/>
                        <a:buChar char="•"/>
                      </a:pPr>
                      <a:r>
                        <a:rPr lang="en-GB" sz="1200" kern="100">
                          <a:effectLst/>
                        </a:rPr>
                        <a:t>Destroyed cylinder head</a:t>
                      </a:r>
                    </a:p>
                    <a:p>
                      <a:pPr marL="171450" indent="-171450" algn="l">
                        <a:lnSpc>
                          <a:spcPct val="150000"/>
                        </a:lnSpc>
                        <a:spcBef>
                          <a:spcPts val="0"/>
                        </a:spcBef>
                        <a:spcAft>
                          <a:spcPts val="0"/>
                        </a:spcAft>
                        <a:buFont typeface="Arial" panose="020B0604020202020204" pitchFamily="34" charset="0"/>
                        <a:buChar char="•"/>
                      </a:pPr>
                      <a:r>
                        <a:rPr lang="en-GB" sz="1200" kern="100">
                          <a:effectLst/>
                        </a:rPr>
                        <a:t>8 Skid runner replacements.</a:t>
                      </a:r>
                      <a:br>
                        <a:rPr lang="en-GB" sz="1200" kern="100">
                          <a:effectLst/>
                        </a:rPr>
                      </a:br>
                      <a:r>
                        <a:rPr lang="en-GB" sz="1200" kern="100">
                          <a:effectLst/>
                        </a:rPr>
                        <a:t>Slasher Gearbox failure.</a:t>
                      </a:r>
                      <a:endParaRPr lang="en-GB" sz="1200" kern="100">
                        <a:solidFill>
                          <a:srgbClr val="000000"/>
                        </a:solidFill>
                        <a:effectLst/>
                        <a:latin typeface="Arial" panose="020B0604020202020204" pitchFamily="34" charset="0"/>
                        <a:ea typeface="Aptos" panose="020B0004020202020204" pitchFamily="34" charset="0"/>
                        <a:cs typeface="Times New Roman" panose="02020603050405020304" pitchFamily="18" charset="0"/>
                      </a:endParaRPr>
                    </a:p>
                  </a:txBody>
                  <a:tcPr marL="7682" marR="7682" marT="7682" marB="7682" anchor="ctr"/>
                </a:tc>
                <a:tc>
                  <a:txBody>
                    <a:bodyPr/>
                    <a:lstStyle/>
                    <a:p>
                      <a:pPr marL="171450" indent="-171450" algn="l">
                        <a:lnSpc>
                          <a:spcPct val="150000"/>
                        </a:lnSpc>
                        <a:spcBef>
                          <a:spcPts val="0"/>
                        </a:spcBef>
                        <a:spcAft>
                          <a:spcPts val="0"/>
                        </a:spcAft>
                        <a:buFont typeface="Arial" panose="020B0604020202020204" pitchFamily="34" charset="0"/>
                        <a:buChar char="•"/>
                      </a:pPr>
                      <a:r>
                        <a:rPr lang="en-GB" sz="1200" kern="100">
                          <a:effectLst/>
                        </a:rPr>
                        <a:t>Missed Warnings + Shock Loads: Daily leaks un-noticed. </a:t>
                      </a:r>
                    </a:p>
                    <a:p>
                      <a:pPr marL="171450" indent="-171450" algn="l">
                        <a:lnSpc>
                          <a:spcPct val="150000"/>
                        </a:lnSpc>
                        <a:spcBef>
                          <a:spcPts val="0"/>
                        </a:spcBef>
                        <a:spcAft>
                          <a:spcPts val="0"/>
                        </a:spcAft>
                        <a:buFont typeface="Arial" panose="020B0604020202020204" pitchFamily="34" charset="0"/>
                        <a:buChar char="•"/>
                      </a:pPr>
                      <a:r>
                        <a:rPr lang="en-GB" sz="1200" kern="100">
                          <a:effectLst/>
                        </a:rPr>
                        <a:t>Slasher bottoms out on undulating turf.</a:t>
                      </a:r>
                    </a:p>
                    <a:p>
                      <a:pPr marL="171450" indent="-171450" algn="l">
                        <a:lnSpc>
                          <a:spcPct val="150000"/>
                        </a:lnSpc>
                        <a:spcBef>
                          <a:spcPts val="0"/>
                        </a:spcBef>
                        <a:spcAft>
                          <a:spcPts val="0"/>
                        </a:spcAft>
                        <a:buFont typeface="Arial" panose="020B0604020202020204" pitchFamily="34" charset="0"/>
                        <a:buChar char="•"/>
                      </a:pPr>
                      <a:r>
                        <a:rPr lang="en-GB" sz="1200" kern="100">
                          <a:effectLst/>
                        </a:rPr>
                        <a:t>Ground-striking forces travel up PTO shaft, shattering gearbox gears.</a:t>
                      </a:r>
                      <a:endParaRPr lang="en-GB" sz="1200" kern="100">
                        <a:solidFill>
                          <a:srgbClr val="000000"/>
                        </a:solidFill>
                        <a:effectLst/>
                        <a:latin typeface="Arial" panose="020B0604020202020204" pitchFamily="34" charset="0"/>
                        <a:ea typeface="Aptos" panose="020B0004020202020204" pitchFamily="34" charset="0"/>
                        <a:cs typeface="Times New Roman" panose="02020603050405020304" pitchFamily="18" charset="0"/>
                      </a:endParaRPr>
                    </a:p>
                  </a:txBody>
                  <a:tcPr marL="7682" marR="7682" marT="7682" marB="7682" anchor="ctr"/>
                </a:tc>
                <a:tc>
                  <a:txBody>
                    <a:bodyPr/>
                    <a:lstStyle/>
                    <a:p>
                      <a:pPr marL="171450" indent="-171450" algn="l">
                        <a:lnSpc>
                          <a:spcPct val="150000"/>
                        </a:lnSpc>
                        <a:spcBef>
                          <a:spcPts val="0"/>
                        </a:spcBef>
                        <a:spcAft>
                          <a:spcPts val="0"/>
                        </a:spcAft>
                        <a:buFont typeface="Arial" panose="020B0604020202020204" pitchFamily="34" charset="0"/>
                        <a:buChar char="•"/>
                      </a:pPr>
                      <a:r>
                        <a:rPr lang="en-GB" sz="1200" kern="100">
                          <a:effectLst/>
                        </a:rPr>
                        <a:t>Implement daily pre-start sign-off sheet.</a:t>
                      </a:r>
                    </a:p>
                    <a:p>
                      <a:pPr marL="171450" indent="-171450" algn="l">
                        <a:lnSpc>
                          <a:spcPct val="150000"/>
                        </a:lnSpc>
                        <a:spcBef>
                          <a:spcPts val="0"/>
                        </a:spcBef>
                        <a:spcAft>
                          <a:spcPts val="0"/>
                        </a:spcAft>
                        <a:buFont typeface="Arial" panose="020B0604020202020204" pitchFamily="34" charset="0"/>
                        <a:buChar char="•"/>
                      </a:pPr>
                      <a:r>
                        <a:rPr lang="en-GB" sz="1200" kern="100">
                          <a:effectLst/>
                        </a:rPr>
                        <a:t>Weekly clutch housing weep-hole audit.</a:t>
                      </a:r>
                    </a:p>
                    <a:p>
                      <a:pPr marL="171450" indent="-171450" algn="l">
                        <a:lnSpc>
                          <a:spcPct val="150000"/>
                        </a:lnSpc>
                        <a:spcBef>
                          <a:spcPts val="0"/>
                        </a:spcBef>
                        <a:spcAft>
                          <a:spcPts val="0"/>
                        </a:spcAft>
                        <a:buFont typeface="Arial" panose="020B0604020202020204" pitchFamily="34" charset="0"/>
                        <a:buChar char="•"/>
                      </a:pPr>
                      <a:r>
                        <a:rPr lang="en-GB" sz="1200" kern="100">
                          <a:effectLst/>
                        </a:rPr>
                        <a:t>Retrofit trailing caster wheels to lift skids 2–3 cm.</a:t>
                      </a:r>
                      <a:endParaRPr lang="en-GB" sz="1200" kern="100">
                        <a:solidFill>
                          <a:srgbClr val="000000"/>
                        </a:solidFill>
                        <a:effectLst/>
                        <a:latin typeface="Arial" panose="020B0604020202020204" pitchFamily="34" charset="0"/>
                        <a:ea typeface="Aptos" panose="020B0004020202020204" pitchFamily="34" charset="0"/>
                        <a:cs typeface="Times New Roman" panose="02020603050405020304" pitchFamily="18" charset="0"/>
                      </a:endParaRPr>
                    </a:p>
                  </a:txBody>
                  <a:tcPr marL="7682" marR="7682" marT="7682" marB="7682" anchor="ctr"/>
                </a:tc>
                <a:extLst>
                  <a:ext uri="{0D108BD9-81ED-4DB2-BD59-A6C34878D82A}">
                    <a16:rowId xmlns:a16="http://schemas.microsoft.com/office/drawing/2014/main" val="672074345"/>
                  </a:ext>
                </a:extLst>
              </a:tr>
              <a:tr h="1232144">
                <a:tc>
                  <a:txBody>
                    <a:bodyPr/>
                    <a:lstStyle/>
                    <a:p>
                      <a:pPr algn="l">
                        <a:lnSpc>
                          <a:spcPct val="150000"/>
                        </a:lnSpc>
                        <a:spcBef>
                          <a:spcPts val="1200"/>
                        </a:spcBef>
                        <a:spcAft>
                          <a:spcPts val="1200"/>
                        </a:spcAft>
                        <a:buNone/>
                      </a:pPr>
                      <a:r>
                        <a:rPr lang="en-GB" sz="1600"/>
                        <a:t>Absence of an Economic Limit of Repair Policy</a:t>
                      </a:r>
                      <a:endParaRPr lang="en-GB" sz="1600" kern="100">
                        <a:solidFill>
                          <a:srgbClr val="000000"/>
                        </a:solidFill>
                        <a:effectLst/>
                        <a:latin typeface="Arial" panose="020B0604020202020204" pitchFamily="34" charset="0"/>
                        <a:ea typeface="Aptos" panose="020B0004020202020204" pitchFamily="34" charset="0"/>
                        <a:cs typeface="Times New Roman" panose="02020603050405020304" pitchFamily="18" charset="0"/>
                      </a:endParaRPr>
                    </a:p>
                  </a:txBody>
                  <a:tcPr marL="7682" marR="7682" marT="7682" marB="7682"/>
                </a:tc>
                <a:tc>
                  <a:txBody>
                    <a:bodyPr/>
                    <a:lstStyle/>
                    <a:p>
                      <a:pPr marL="171450" indent="-171450" algn="l">
                        <a:lnSpc>
                          <a:spcPct val="150000"/>
                        </a:lnSpc>
                        <a:spcBef>
                          <a:spcPts val="0"/>
                        </a:spcBef>
                        <a:spcAft>
                          <a:spcPts val="0"/>
                        </a:spcAft>
                        <a:buFont typeface="Arial" panose="020B0604020202020204" pitchFamily="34" charset="0"/>
                        <a:buChar char="•"/>
                      </a:pPr>
                      <a:r>
                        <a:rPr lang="en-GB" sz="1200" kern="100">
                          <a:effectLst/>
                        </a:rPr>
                        <a:t>ZAR 500k  spent on a tractor worth ZAR 200k</a:t>
                      </a:r>
                    </a:p>
                    <a:p>
                      <a:pPr marL="171450" indent="-171450" algn="l">
                        <a:lnSpc>
                          <a:spcPct val="150000"/>
                        </a:lnSpc>
                        <a:spcBef>
                          <a:spcPts val="0"/>
                        </a:spcBef>
                        <a:spcAft>
                          <a:spcPts val="0"/>
                        </a:spcAft>
                        <a:buFont typeface="Arial" panose="020B0604020202020204" pitchFamily="34" charset="0"/>
                        <a:buChar char="•"/>
                      </a:pPr>
                      <a:r>
                        <a:rPr lang="en-GB" sz="1200" kern="100">
                          <a:effectLst/>
                        </a:rPr>
                        <a:t>Invoices treated as isolated costs</a:t>
                      </a:r>
                      <a:endParaRPr lang="en-GB" sz="1200" kern="100">
                        <a:solidFill>
                          <a:srgbClr val="000000"/>
                        </a:solidFill>
                        <a:effectLst/>
                        <a:latin typeface="Arial" panose="020B0604020202020204" pitchFamily="34" charset="0"/>
                        <a:ea typeface="Aptos" panose="020B0004020202020204" pitchFamily="34" charset="0"/>
                        <a:cs typeface="Times New Roman" panose="02020603050405020304" pitchFamily="18" charset="0"/>
                      </a:endParaRPr>
                    </a:p>
                  </a:txBody>
                  <a:tcPr marL="7682" marR="7682" marT="7682" marB="7682" anchor="ctr"/>
                </a:tc>
                <a:tc>
                  <a:txBody>
                    <a:bodyPr/>
                    <a:lstStyle/>
                    <a:p>
                      <a:pPr marL="171450" indent="-171450" algn="l">
                        <a:lnSpc>
                          <a:spcPct val="150000"/>
                        </a:lnSpc>
                        <a:spcBef>
                          <a:spcPts val="0"/>
                        </a:spcBef>
                        <a:spcAft>
                          <a:spcPts val="0"/>
                        </a:spcAft>
                        <a:buFont typeface="Arial" panose="020B0604020202020204" pitchFamily="34" charset="0"/>
                        <a:buChar char="•"/>
                      </a:pPr>
                      <a:r>
                        <a:rPr lang="en-GB" sz="1200" kern="100">
                          <a:effectLst/>
                        </a:rPr>
                        <a:t>Policy Deficit: Absence of a formalised asset retention framework or cumulative lifecycle expenditure tracker.</a:t>
                      </a:r>
                      <a:endParaRPr lang="en-GB" sz="1200" kern="100">
                        <a:solidFill>
                          <a:srgbClr val="000000"/>
                        </a:solidFill>
                        <a:effectLst/>
                        <a:latin typeface="Arial" panose="020B0604020202020204" pitchFamily="34" charset="0"/>
                        <a:ea typeface="Aptos" panose="020B0004020202020204" pitchFamily="34" charset="0"/>
                        <a:cs typeface="Times New Roman" panose="02020603050405020304" pitchFamily="18" charset="0"/>
                      </a:endParaRPr>
                    </a:p>
                  </a:txBody>
                  <a:tcPr marL="7682" marR="7682" marT="7682" marB="7682" anchor="ctr"/>
                </a:tc>
                <a:tc>
                  <a:txBody>
                    <a:bodyPr/>
                    <a:lstStyle/>
                    <a:p>
                      <a:pPr marL="171450" indent="-171450" algn="l">
                        <a:lnSpc>
                          <a:spcPct val="150000"/>
                        </a:lnSpc>
                        <a:spcBef>
                          <a:spcPts val="0"/>
                        </a:spcBef>
                        <a:spcAft>
                          <a:spcPts val="0"/>
                        </a:spcAft>
                        <a:buFont typeface="Arial" panose="020B0604020202020204" pitchFamily="34" charset="0"/>
                        <a:buChar char="•"/>
                      </a:pPr>
                      <a:r>
                        <a:rPr lang="en-GB" sz="1200" kern="100">
                          <a:effectLst/>
                        </a:rPr>
                        <a:t>Implement the Industry Rule:</a:t>
                      </a:r>
                    </a:p>
                    <a:p>
                      <a:pPr marL="171450" indent="-171450" algn="l">
                        <a:lnSpc>
                          <a:spcPct val="150000"/>
                        </a:lnSpc>
                        <a:spcBef>
                          <a:spcPts val="0"/>
                        </a:spcBef>
                        <a:spcAft>
                          <a:spcPts val="0"/>
                        </a:spcAft>
                        <a:buFont typeface="Arial" panose="020B0604020202020204" pitchFamily="34" charset="0"/>
                        <a:buChar char="•"/>
                      </a:pPr>
                      <a:r>
                        <a:rPr lang="en-GB" sz="1200" kern="100">
                          <a:effectLst/>
                        </a:rPr>
                        <a:t>Red-flag single repairs &gt;30% market value.</a:t>
                      </a:r>
                    </a:p>
                    <a:p>
                      <a:pPr marL="171450" indent="-171450" algn="l">
                        <a:lnSpc>
                          <a:spcPct val="150000"/>
                        </a:lnSpc>
                        <a:spcBef>
                          <a:spcPts val="0"/>
                        </a:spcBef>
                        <a:spcAft>
                          <a:spcPts val="0"/>
                        </a:spcAft>
                        <a:buFont typeface="Arial" panose="020B0604020202020204" pitchFamily="34" charset="0"/>
                        <a:buChar char="•"/>
                      </a:pPr>
                      <a:r>
                        <a:rPr lang="en-GB" sz="1200" kern="100">
                          <a:effectLst/>
                        </a:rPr>
                        <a:t>Dispose/trade-in if 24-month spend &gt;50% value.</a:t>
                      </a:r>
                      <a:endParaRPr lang="en-GB" sz="1200" kern="100">
                        <a:solidFill>
                          <a:srgbClr val="000000"/>
                        </a:solidFill>
                        <a:effectLst/>
                        <a:latin typeface="Arial" panose="020B0604020202020204" pitchFamily="34" charset="0"/>
                        <a:ea typeface="Aptos" panose="020B0004020202020204" pitchFamily="34" charset="0"/>
                        <a:cs typeface="Times New Roman" panose="02020603050405020304" pitchFamily="18" charset="0"/>
                      </a:endParaRPr>
                    </a:p>
                  </a:txBody>
                  <a:tcPr marL="7682" marR="7682" marT="7682" marB="7682" anchor="ctr"/>
                </a:tc>
                <a:extLst>
                  <a:ext uri="{0D108BD9-81ED-4DB2-BD59-A6C34878D82A}">
                    <a16:rowId xmlns:a16="http://schemas.microsoft.com/office/drawing/2014/main" val="1501667433"/>
                  </a:ext>
                </a:extLst>
              </a:tr>
            </a:tbl>
          </a:graphicData>
        </a:graphic>
      </p:graphicFrame>
      <p:sp>
        <p:nvSpPr>
          <p:cNvPr id="4" name="Text Placeholder 3">
            <a:extLst>
              <a:ext uri="{FF2B5EF4-FFF2-40B4-BE49-F238E27FC236}">
                <a16:creationId xmlns:a16="http://schemas.microsoft.com/office/drawing/2014/main" id="{91131148-5E1E-7BF4-7E41-F7612C834531}"/>
              </a:ext>
            </a:extLst>
          </p:cNvPr>
          <p:cNvSpPr>
            <a:spLocks noGrp="1"/>
          </p:cNvSpPr>
          <p:nvPr>
            <p:ph type="body" sz="quarter" idx="13"/>
          </p:nvPr>
        </p:nvSpPr>
        <p:spPr/>
        <p:txBody>
          <a:bodyPr/>
          <a:lstStyle/>
          <a:p>
            <a:r>
              <a:rPr lang="en-GB"/>
              <a:t>Executive summary</a:t>
            </a:r>
          </a:p>
        </p:txBody>
      </p:sp>
    </p:spTree>
    <p:extLst>
      <p:ext uri="{BB962C8B-B14F-4D97-AF65-F5344CB8AC3E}">
        <p14:creationId xmlns:p14="http://schemas.microsoft.com/office/powerpoint/2010/main" val="26665045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794F0E6E-F5B7-A0DA-FEBD-0003E7CC7D8A}"/>
              </a:ext>
            </a:extLst>
          </p:cNvPr>
          <p:cNvSpPr>
            <a:spLocks noGrp="1"/>
          </p:cNvSpPr>
          <p:nvPr>
            <p:ph sz="half" idx="2"/>
          </p:nvPr>
        </p:nvSpPr>
        <p:spPr>
          <a:xfrm>
            <a:off x="1024128" y="2179636"/>
            <a:ext cx="4942106" cy="4015822"/>
          </a:xfrm>
        </p:spPr>
        <p:txBody>
          <a:bodyPr>
            <a:noAutofit/>
          </a:bodyPr>
          <a:lstStyle/>
          <a:p>
            <a:pPr marL="354013" indent="-354013">
              <a:lnSpc>
                <a:spcPct val="100000"/>
              </a:lnSpc>
              <a:spcAft>
                <a:spcPts val="0"/>
              </a:spcAft>
              <a:buFont typeface="Wingdings" panose="05000000000000000000" pitchFamily="2" charset="2"/>
              <a:buChar char="§"/>
            </a:pPr>
            <a:r>
              <a:rPr lang="en-GB" sz="1400" b="1"/>
              <a:t>Evidence and Impact:</a:t>
            </a:r>
            <a:r>
              <a:rPr lang="en-GB" sz="1400"/>
              <a:t> </a:t>
            </a:r>
          </a:p>
          <a:p>
            <a:pPr marL="527749" lvl="1" indent="-354013">
              <a:lnSpc>
                <a:spcPct val="100000"/>
              </a:lnSpc>
              <a:spcAft>
                <a:spcPts val="0"/>
              </a:spcAft>
              <a:buFont typeface="Wingdings" panose="05000000000000000000" pitchFamily="2" charset="2"/>
              <a:buChar char="§"/>
            </a:pPr>
            <a:r>
              <a:rPr lang="en-GB" sz="1400" b="1"/>
              <a:t>Invoice History:</a:t>
            </a:r>
            <a:r>
              <a:rPr lang="en-GB" sz="1400"/>
              <a:t> Repetitive, abnormal cycle of clutch overhauls, flywheel skimming, replacement flywheels, and sheared gear linkages/shattered gear levers across 2021, 2023, 2024, and 2026 (Invoices: INJ42940, INC00243, 104406, 67045, 88520).</a:t>
            </a:r>
          </a:p>
          <a:p>
            <a:pPr marL="527749" lvl="1" indent="-354013">
              <a:lnSpc>
                <a:spcPct val="100000"/>
              </a:lnSpc>
              <a:spcAft>
                <a:spcPts val="0"/>
              </a:spcAft>
              <a:buFont typeface="Wingdings" panose="05000000000000000000" pitchFamily="2" charset="2"/>
              <a:buChar char="§"/>
            </a:pPr>
            <a:r>
              <a:rPr lang="en-GB" sz="1400" b="1"/>
              <a:t>Physical Degradation:</a:t>
            </a:r>
            <a:r>
              <a:rPr lang="en-GB" sz="1400"/>
              <a:t> Systemic failure of the Rear Main Crankshaft Oil Seal / Housing Kits (replaced/quoted April-23, Feb-24, Oct-25, Feb-26).</a:t>
            </a:r>
          </a:p>
          <a:p>
            <a:pPr marL="354013" indent="-354013">
              <a:lnSpc>
                <a:spcPct val="100000"/>
              </a:lnSpc>
              <a:spcAft>
                <a:spcPts val="0"/>
              </a:spcAft>
              <a:buFont typeface="Wingdings" panose="05000000000000000000" pitchFamily="2" charset="2"/>
              <a:buChar char="§"/>
            </a:pPr>
            <a:r>
              <a:rPr lang="en-GB" sz="1400" b="1"/>
              <a:t>Likely Root Cause:</a:t>
            </a:r>
            <a:r>
              <a:rPr lang="en-GB" sz="1400"/>
              <a:t> </a:t>
            </a:r>
          </a:p>
          <a:p>
            <a:pPr lvl="2">
              <a:lnSpc>
                <a:spcPct val="100000"/>
              </a:lnSpc>
              <a:spcAft>
                <a:spcPts val="0"/>
              </a:spcAft>
            </a:pPr>
            <a:r>
              <a:rPr lang="en-GB" b="1"/>
              <a:t>Operational Misuse:</a:t>
            </a:r>
            <a:r>
              <a:rPr lang="en-GB"/>
              <a:t> Operators "ride" the clutch pedal to modulate speed instead of choosing a lower gear range and using the throttle.</a:t>
            </a:r>
          </a:p>
          <a:p>
            <a:pPr lvl="2">
              <a:lnSpc>
                <a:spcPct val="100000"/>
              </a:lnSpc>
              <a:spcAft>
                <a:spcPts val="0"/>
              </a:spcAft>
            </a:pPr>
            <a:r>
              <a:rPr lang="en-GB" b="1"/>
              <a:t>Absence of Active Field Policing: </a:t>
            </a:r>
            <a:r>
              <a:rPr lang="en-GB"/>
              <a:t>Manager/Supervisors failed to monitor, audit, and correct operator behaviours.</a:t>
            </a:r>
          </a:p>
          <a:p>
            <a:pPr lvl="2">
              <a:lnSpc>
                <a:spcPct val="100000"/>
              </a:lnSpc>
              <a:spcAft>
                <a:spcPts val="0"/>
              </a:spcAft>
            </a:pPr>
            <a:r>
              <a:rPr lang="en-GB" b="1"/>
              <a:t>Thermal &amp; Topographical Stress:</a:t>
            </a:r>
            <a:r>
              <a:rPr lang="en-GB"/>
              <a:t> Forcing the tractor up steep terrain in high gear creates extreme friction heat warping flywheels and destroying adjacent rubber crankshaft oil seals. Engine oil migrates onto the clutch plates, causing permanent slippage and accelerating drivetrain burnout.</a:t>
            </a:r>
          </a:p>
        </p:txBody>
      </p:sp>
      <p:sp>
        <p:nvSpPr>
          <p:cNvPr id="7" name="Content Placeholder 6">
            <a:extLst>
              <a:ext uri="{FF2B5EF4-FFF2-40B4-BE49-F238E27FC236}">
                <a16:creationId xmlns:a16="http://schemas.microsoft.com/office/drawing/2014/main" id="{D8BE98AA-0F77-4FB1-2C84-97648649E3ED}"/>
              </a:ext>
            </a:extLst>
          </p:cNvPr>
          <p:cNvSpPr>
            <a:spLocks noGrp="1"/>
          </p:cNvSpPr>
          <p:nvPr>
            <p:ph sz="quarter" idx="4"/>
          </p:nvPr>
        </p:nvSpPr>
        <p:spPr>
          <a:xfrm>
            <a:off x="5990888" y="2179636"/>
            <a:ext cx="4754880" cy="4678364"/>
          </a:xfrm>
        </p:spPr>
        <p:txBody>
          <a:bodyPr>
            <a:normAutofit/>
          </a:bodyPr>
          <a:lstStyle/>
          <a:p>
            <a:pPr marL="354013" indent="-354013">
              <a:lnSpc>
                <a:spcPct val="100000"/>
              </a:lnSpc>
              <a:spcBef>
                <a:spcPts val="0"/>
              </a:spcBef>
              <a:spcAft>
                <a:spcPts val="0"/>
              </a:spcAft>
              <a:buFont typeface="Wingdings" panose="05000000000000000000" pitchFamily="2" charset="2"/>
              <a:buChar char="§"/>
            </a:pPr>
            <a:r>
              <a:rPr lang="en-GB" sz="1600" b="1"/>
              <a:t>Mandatory Training:</a:t>
            </a:r>
            <a:r>
              <a:rPr lang="en-GB" sz="1600"/>
              <a:t> Enforce a strict "foot off the clutch pedal" rule with signed annual driver training records.</a:t>
            </a:r>
          </a:p>
          <a:p>
            <a:pPr marL="354013" indent="-354013">
              <a:lnSpc>
                <a:spcPct val="100000"/>
              </a:lnSpc>
              <a:spcBef>
                <a:spcPts val="0"/>
              </a:spcBef>
              <a:spcAft>
                <a:spcPts val="0"/>
              </a:spcAft>
              <a:buFont typeface="Wingdings" panose="05000000000000000000" pitchFamily="2" charset="2"/>
              <a:buChar char="§"/>
            </a:pPr>
            <a:endParaRPr lang="en-GB" sz="1600">
              <a:solidFill>
                <a:srgbClr val="FF0000"/>
              </a:solidFill>
            </a:endParaRPr>
          </a:p>
          <a:p>
            <a:pPr marL="354013" indent="-354013">
              <a:lnSpc>
                <a:spcPct val="100000"/>
              </a:lnSpc>
              <a:spcBef>
                <a:spcPts val="0"/>
              </a:spcBef>
              <a:spcAft>
                <a:spcPts val="0"/>
              </a:spcAft>
              <a:buFont typeface="Wingdings" panose="05000000000000000000" pitchFamily="2" charset="2"/>
              <a:buChar char="§"/>
            </a:pPr>
            <a:r>
              <a:rPr lang="en-GB" sz="1600" b="1"/>
              <a:t>Supervisory Field Mandate</a:t>
            </a:r>
            <a:r>
              <a:rPr lang="en-GB" sz="1600"/>
              <a:t>: Integrate active machine operation monitoring into supervisor field routines, forcing immediate lockout and machine retraining for any operator caught riding a pedal.</a:t>
            </a:r>
          </a:p>
          <a:p>
            <a:pPr marL="0" indent="0">
              <a:lnSpc>
                <a:spcPct val="100000"/>
              </a:lnSpc>
              <a:spcBef>
                <a:spcPts val="0"/>
              </a:spcBef>
              <a:spcAft>
                <a:spcPts val="0"/>
              </a:spcAft>
              <a:buNone/>
            </a:pPr>
            <a:endParaRPr lang="en-GB" sz="1600" b="1"/>
          </a:p>
          <a:p>
            <a:pPr marL="354013" indent="-354013">
              <a:lnSpc>
                <a:spcPct val="100000"/>
              </a:lnSpc>
              <a:spcBef>
                <a:spcPts val="0"/>
              </a:spcBef>
              <a:spcAft>
                <a:spcPts val="0"/>
              </a:spcAft>
              <a:buFont typeface="Wingdings" panose="05000000000000000000" pitchFamily="2" charset="2"/>
              <a:buChar char="§"/>
            </a:pPr>
            <a:r>
              <a:rPr lang="en-GB" sz="1600" b="1"/>
              <a:t>Gear Selection Mandate:</a:t>
            </a:r>
            <a:r>
              <a:rPr lang="en-GB" sz="1600"/>
              <a:t> Require all ground-engaging slasher work and firebreak cutting to be done exclusively in </a:t>
            </a:r>
            <a:r>
              <a:rPr lang="en-GB" sz="1600" b="1"/>
              <a:t>Low Range (L1–L3)</a:t>
            </a:r>
            <a:r>
              <a:rPr lang="en-GB" sz="1600"/>
              <a:t>.</a:t>
            </a:r>
          </a:p>
          <a:p>
            <a:pPr marL="354013" indent="-354013">
              <a:lnSpc>
                <a:spcPct val="100000"/>
              </a:lnSpc>
              <a:spcBef>
                <a:spcPts val="0"/>
              </a:spcBef>
              <a:spcAft>
                <a:spcPts val="0"/>
              </a:spcAft>
              <a:buFont typeface="Wingdings" panose="05000000000000000000" pitchFamily="2" charset="2"/>
              <a:buChar char="§"/>
            </a:pPr>
            <a:endParaRPr lang="en-GB" sz="1600" b="1"/>
          </a:p>
          <a:p>
            <a:pPr marL="354013" indent="-354013">
              <a:lnSpc>
                <a:spcPct val="100000"/>
              </a:lnSpc>
              <a:spcBef>
                <a:spcPts val="0"/>
              </a:spcBef>
              <a:spcAft>
                <a:spcPts val="0"/>
              </a:spcAft>
              <a:buFont typeface="Wingdings" panose="05000000000000000000" pitchFamily="2" charset="2"/>
              <a:buChar char="§"/>
            </a:pPr>
            <a:r>
              <a:rPr lang="en-GB" sz="1600" b="1"/>
              <a:t>Capital Strategy:</a:t>
            </a:r>
            <a:r>
              <a:rPr lang="en-GB" sz="1600"/>
              <a:t> Analyse future procurement of next-generation estate tractors equipped with a </a:t>
            </a:r>
            <a:r>
              <a:rPr lang="en-GB" sz="1600" b="1"/>
              <a:t>Power Shuttle, Hydrostatic, or Powershift transmission</a:t>
            </a:r>
            <a:r>
              <a:rPr lang="en-GB" sz="1600"/>
              <a:t> to eliminate mechanical dry clutch wear entirely </a:t>
            </a:r>
            <a:r>
              <a:rPr lang="en-GB" sz="1600" i="1"/>
              <a:t>-- implications must be analysed</a:t>
            </a:r>
          </a:p>
        </p:txBody>
      </p:sp>
      <p:sp>
        <p:nvSpPr>
          <p:cNvPr id="2" name="Title 1">
            <a:extLst>
              <a:ext uri="{FF2B5EF4-FFF2-40B4-BE49-F238E27FC236}">
                <a16:creationId xmlns:a16="http://schemas.microsoft.com/office/drawing/2014/main" id="{BF9EBC75-A30B-B35E-5FD5-08754AFA6091}"/>
              </a:ext>
            </a:extLst>
          </p:cNvPr>
          <p:cNvSpPr>
            <a:spLocks noGrp="1"/>
          </p:cNvSpPr>
          <p:nvPr>
            <p:ph type="title"/>
          </p:nvPr>
        </p:nvSpPr>
        <p:spPr>
          <a:xfrm>
            <a:off x="1103259" y="752269"/>
            <a:ext cx="10641898" cy="689669"/>
          </a:xfrm>
        </p:spPr>
        <p:txBody>
          <a:bodyPr>
            <a:normAutofit fontScale="90000"/>
          </a:bodyPr>
          <a:lstStyle/>
          <a:p>
            <a:r>
              <a:rPr lang="en-GB"/>
              <a:t>Severe Operator Overloading or "Clutch Riding”</a:t>
            </a:r>
          </a:p>
        </p:txBody>
      </p:sp>
      <p:sp>
        <p:nvSpPr>
          <p:cNvPr id="8" name="Text Placeholder 7">
            <a:extLst>
              <a:ext uri="{FF2B5EF4-FFF2-40B4-BE49-F238E27FC236}">
                <a16:creationId xmlns:a16="http://schemas.microsoft.com/office/drawing/2014/main" id="{D1B8C532-8451-52FD-FC7A-DCBF2F7DA1B2}"/>
              </a:ext>
            </a:extLst>
          </p:cNvPr>
          <p:cNvSpPr>
            <a:spLocks noGrp="1"/>
          </p:cNvSpPr>
          <p:nvPr>
            <p:ph type="body" sz="quarter" idx="13"/>
          </p:nvPr>
        </p:nvSpPr>
        <p:spPr/>
        <p:txBody>
          <a:bodyPr/>
          <a:lstStyle/>
          <a:p>
            <a:r>
              <a:rPr lang="en-GB"/>
              <a:t>Root cause analysis</a:t>
            </a:r>
          </a:p>
        </p:txBody>
      </p:sp>
    </p:spTree>
    <p:extLst>
      <p:ext uri="{BB962C8B-B14F-4D97-AF65-F5344CB8AC3E}">
        <p14:creationId xmlns:p14="http://schemas.microsoft.com/office/powerpoint/2010/main" val="18316206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Content Placeholder 9">
            <a:extLst>
              <a:ext uri="{FF2B5EF4-FFF2-40B4-BE49-F238E27FC236}">
                <a16:creationId xmlns:a16="http://schemas.microsoft.com/office/drawing/2014/main" id="{53DCC92D-614F-A3F0-2611-170C3448829F}"/>
              </a:ext>
            </a:extLst>
          </p:cNvPr>
          <p:cNvSpPr>
            <a:spLocks noGrp="1"/>
          </p:cNvSpPr>
          <p:nvPr>
            <p:ph sz="half" idx="2"/>
          </p:nvPr>
        </p:nvSpPr>
        <p:spPr>
          <a:xfrm>
            <a:off x="1053156" y="2179636"/>
            <a:ext cx="4725852" cy="4126216"/>
          </a:xfrm>
        </p:spPr>
        <p:txBody>
          <a:bodyPr vert="horz" lIns="45720" tIns="45720" rIns="45720" bIns="45720" rtlCol="0" anchor="t">
            <a:noAutofit/>
          </a:bodyPr>
          <a:lstStyle/>
          <a:p>
            <a:pPr marL="354013" indent="-354013">
              <a:lnSpc>
                <a:spcPct val="100000"/>
              </a:lnSpc>
              <a:spcAft>
                <a:spcPts val="0"/>
              </a:spcAft>
              <a:buFont typeface="Wingdings" panose="05000000000000000000" pitchFamily="2" charset="2"/>
              <a:buChar char="§"/>
            </a:pPr>
            <a:r>
              <a:rPr lang="en-GB" sz="1400" b="1"/>
              <a:t>Evidence &amp; Impact</a:t>
            </a:r>
          </a:p>
          <a:p>
            <a:pPr marL="527749" lvl="1" indent="-354013">
              <a:lnSpc>
                <a:spcPct val="100000"/>
              </a:lnSpc>
              <a:spcAft>
                <a:spcPts val="0"/>
              </a:spcAft>
              <a:buFont typeface="Wingdings" panose="05000000000000000000" pitchFamily="2" charset="2"/>
              <a:buChar char="§"/>
            </a:pPr>
            <a:r>
              <a:rPr lang="en-GB" sz="1400" b="1"/>
              <a:t>Asset Component Damage: </a:t>
            </a:r>
            <a:r>
              <a:rPr lang="en-GB" sz="1400"/>
              <a:t>Catastrophic, sudden failure of the engine top-end cylinder head assembly, detached/vibrating wiring harnesses, and a completely stripped starter motor gear.</a:t>
            </a:r>
          </a:p>
          <a:p>
            <a:pPr marL="527749" lvl="1" indent="-354013">
              <a:lnSpc>
                <a:spcPct val="100000"/>
              </a:lnSpc>
              <a:spcAft>
                <a:spcPts val="0"/>
              </a:spcAft>
              <a:buFont typeface="Wingdings" panose="05000000000000000000" pitchFamily="2" charset="2"/>
              <a:buChar char="§"/>
            </a:pPr>
            <a:r>
              <a:rPr lang="en-GB" sz="1400" b="1"/>
              <a:t>Slasher Fleet Wear: </a:t>
            </a:r>
            <a:r>
              <a:rPr lang="en-GB" sz="1400"/>
              <a:t>Continuous replacement cycles of 8 separate slasher Skid Runners between 2021 and 2025, culminating in a ZAR 26k replacement of the Slasher Gearbox in April 2025.</a:t>
            </a:r>
          </a:p>
          <a:p>
            <a:pPr marL="354013" indent="-354013">
              <a:lnSpc>
                <a:spcPct val="100000"/>
              </a:lnSpc>
              <a:spcAft>
                <a:spcPts val="0"/>
              </a:spcAft>
              <a:buFont typeface="Wingdings" panose="05000000000000000000" pitchFamily="2" charset="2"/>
              <a:buChar char="§"/>
            </a:pPr>
            <a:r>
              <a:rPr lang="en-GB" sz="1400" b="1"/>
              <a:t>Likely Root Cause</a:t>
            </a:r>
          </a:p>
          <a:p>
            <a:pPr marL="527685" lvl="1" indent="-353695">
              <a:lnSpc>
                <a:spcPct val="100000"/>
              </a:lnSpc>
              <a:spcAft>
                <a:spcPts val="0"/>
              </a:spcAft>
              <a:buFont typeface="Wingdings" panose="05000000000000000000" pitchFamily="2" charset="2"/>
              <a:buChar char="§"/>
            </a:pPr>
            <a:r>
              <a:rPr lang="en-GB" sz="1400" b="1"/>
              <a:t>Missed Warnings: </a:t>
            </a:r>
            <a:r>
              <a:rPr lang="en-GB" sz="1400"/>
              <a:t>Major failures occurred because visible or audible operational warnings were consistently missed, ignored, or went unrecorded by operators.</a:t>
            </a:r>
          </a:p>
          <a:p>
            <a:pPr marL="527685" lvl="1" indent="-353695">
              <a:lnSpc>
                <a:spcPct val="100000"/>
              </a:lnSpc>
              <a:spcAft>
                <a:spcPts val="0"/>
              </a:spcAft>
              <a:buFont typeface="Wingdings" panose="05000000000000000000" pitchFamily="2" charset="2"/>
              <a:buChar char="§"/>
            </a:pPr>
            <a:r>
              <a:rPr lang="en-GB" sz="1400" b="1"/>
              <a:t>Terrain Abuse: </a:t>
            </a:r>
            <a:r>
              <a:rPr lang="en-GB" sz="1400"/>
              <a:t>Rough, undulating estate terrain and rocky firebreaks caused the slasher deck to continuously bottom out. Dragging the skid runners transferred high-impact shock loads directly up the PTO shaft, destroying the internal gearbox gears.</a:t>
            </a:r>
          </a:p>
        </p:txBody>
      </p:sp>
      <p:sp>
        <p:nvSpPr>
          <p:cNvPr id="12" name="Content Placeholder 11">
            <a:extLst>
              <a:ext uri="{FF2B5EF4-FFF2-40B4-BE49-F238E27FC236}">
                <a16:creationId xmlns:a16="http://schemas.microsoft.com/office/drawing/2014/main" id="{67839FE0-2848-48DB-D6E9-52265928DC8A}"/>
              </a:ext>
            </a:extLst>
          </p:cNvPr>
          <p:cNvSpPr>
            <a:spLocks noGrp="1"/>
          </p:cNvSpPr>
          <p:nvPr>
            <p:ph sz="quarter" idx="4"/>
          </p:nvPr>
        </p:nvSpPr>
        <p:spPr>
          <a:xfrm>
            <a:off x="5990888" y="2179636"/>
            <a:ext cx="4754880" cy="4142570"/>
          </a:xfrm>
        </p:spPr>
        <p:txBody>
          <a:bodyPr>
            <a:noAutofit/>
          </a:bodyPr>
          <a:lstStyle/>
          <a:p>
            <a:pPr marL="354013" indent="-354013">
              <a:lnSpc>
                <a:spcPct val="120000"/>
              </a:lnSpc>
              <a:spcBef>
                <a:spcPts val="0"/>
              </a:spcBef>
              <a:spcAft>
                <a:spcPts val="0"/>
              </a:spcAft>
              <a:buFont typeface="Wingdings" panose="05000000000000000000" pitchFamily="2" charset="2"/>
              <a:buChar char="§"/>
            </a:pPr>
            <a:r>
              <a:rPr lang="en-GB" sz="1400" b="1"/>
              <a:t>Daily Pre-Start Checklist: </a:t>
            </a:r>
            <a:r>
              <a:rPr lang="en-GB" sz="1400"/>
              <a:t>Enforce a mandatory, operator-signed morning inspection covering engine oil, cooling water levels, wire harness security, and ground fluid drips.</a:t>
            </a:r>
          </a:p>
          <a:p>
            <a:pPr marL="354013" indent="-354013">
              <a:lnSpc>
                <a:spcPct val="120000"/>
              </a:lnSpc>
              <a:spcBef>
                <a:spcPts val="0"/>
              </a:spcBef>
              <a:spcAft>
                <a:spcPts val="0"/>
              </a:spcAft>
              <a:buFont typeface="Wingdings" panose="05000000000000000000" pitchFamily="2" charset="2"/>
              <a:buChar char="§"/>
            </a:pPr>
            <a:endParaRPr lang="en-GB" sz="1400" b="1"/>
          </a:p>
          <a:p>
            <a:pPr marL="354013" indent="-354013">
              <a:lnSpc>
                <a:spcPct val="120000"/>
              </a:lnSpc>
              <a:spcBef>
                <a:spcPts val="0"/>
              </a:spcBef>
              <a:spcAft>
                <a:spcPts val="0"/>
              </a:spcAft>
              <a:buFont typeface="Wingdings" panose="05000000000000000000" pitchFamily="2" charset="2"/>
              <a:buChar char="§"/>
            </a:pPr>
            <a:r>
              <a:rPr lang="en-GB" sz="1400" b="1"/>
              <a:t>Clutch Housing Audit: </a:t>
            </a:r>
            <a:r>
              <a:rPr lang="en-GB" sz="1400"/>
              <a:t>Mandate a weekly technical check of the clutch housing weep hole. </a:t>
            </a:r>
            <a:endParaRPr lang="en-GB" sz="1400" b="1"/>
          </a:p>
          <a:p>
            <a:pPr marL="0" indent="0">
              <a:lnSpc>
                <a:spcPct val="120000"/>
              </a:lnSpc>
              <a:spcBef>
                <a:spcPts val="0"/>
              </a:spcBef>
              <a:spcAft>
                <a:spcPts val="0"/>
              </a:spcAft>
              <a:buNone/>
            </a:pPr>
            <a:endParaRPr lang="en-GB" sz="1400" b="1"/>
          </a:p>
          <a:p>
            <a:pPr marL="354013" indent="-354013">
              <a:lnSpc>
                <a:spcPct val="120000"/>
              </a:lnSpc>
              <a:spcBef>
                <a:spcPts val="0"/>
              </a:spcBef>
              <a:spcAft>
                <a:spcPts val="0"/>
              </a:spcAft>
              <a:buFont typeface="Wingdings" panose="05000000000000000000" pitchFamily="2" charset="2"/>
              <a:buChar char="§"/>
            </a:pPr>
            <a:r>
              <a:rPr lang="en-GB" sz="1400" b="1"/>
              <a:t>Engineering Modification: </a:t>
            </a:r>
            <a:r>
              <a:rPr lang="en-GB" sz="1400"/>
              <a:t>Retrofit the estate slasher with heavy-duty trailing puncture-proof caster wheels to keep the skid runners 2–3 cm off the ground, eliminating ground-striking forces.</a:t>
            </a:r>
          </a:p>
        </p:txBody>
      </p:sp>
      <p:sp>
        <p:nvSpPr>
          <p:cNvPr id="6" name="Title 5">
            <a:extLst>
              <a:ext uri="{FF2B5EF4-FFF2-40B4-BE49-F238E27FC236}">
                <a16:creationId xmlns:a16="http://schemas.microsoft.com/office/drawing/2014/main" id="{19937F89-9CD2-FCC8-DB71-B59C3570EB1C}"/>
              </a:ext>
            </a:extLst>
          </p:cNvPr>
          <p:cNvSpPr>
            <a:spLocks noGrp="1"/>
          </p:cNvSpPr>
          <p:nvPr>
            <p:ph type="title"/>
          </p:nvPr>
        </p:nvSpPr>
        <p:spPr>
          <a:xfrm>
            <a:off x="1096001" y="384623"/>
            <a:ext cx="10827413" cy="1778240"/>
          </a:xfrm>
        </p:spPr>
        <p:txBody>
          <a:bodyPr>
            <a:normAutofit/>
          </a:bodyPr>
          <a:lstStyle/>
          <a:p>
            <a:r>
              <a:rPr lang="en-GB" sz="4400" dirty="0"/>
              <a:t>Lack of thorough Daily Inspections &amp; Terrain Impact</a:t>
            </a:r>
          </a:p>
        </p:txBody>
      </p:sp>
      <p:sp>
        <p:nvSpPr>
          <p:cNvPr id="13" name="Text Placeholder 12">
            <a:extLst>
              <a:ext uri="{FF2B5EF4-FFF2-40B4-BE49-F238E27FC236}">
                <a16:creationId xmlns:a16="http://schemas.microsoft.com/office/drawing/2014/main" id="{BC8CDF91-D4C2-DF6E-385E-B46C92614122}"/>
              </a:ext>
            </a:extLst>
          </p:cNvPr>
          <p:cNvSpPr>
            <a:spLocks noGrp="1"/>
          </p:cNvSpPr>
          <p:nvPr>
            <p:ph type="body" sz="quarter" idx="13"/>
          </p:nvPr>
        </p:nvSpPr>
        <p:spPr/>
        <p:txBody>
          <a:bodyPr/>
          <a:lstStyle/>
          <a:p>
            <a:r>
              <a:rPr lang="en-GB"/>
              <a:t>Root cause analysis</a:t>
            </a:r>
          </a:p>
        </p:txBody>
      </p:sp>
    </p:spTree>
    <p:extLst>
      <p:ext uri="{BB962C8B-B14F-4D97-AF65-F5344CB8AC3E}">
        <p14:creationId xmlns:p14="http://schemas.microsoft.com/office/powerpoint/2010/main" val="2894318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91D12248-8938-28FC-A1C2-7EA7D21C0391}"/>
              </a:ext>
            </a:extLst>
          </p:cNvPr>
          <p:cNvSpPr>
            <a:spLocks noGrp="1"/>
          </p:cNvSpPr>
          <p:nvPr>
            <p:ph sz="quarter" idx="4"/>
          </p:nvPr>
        </p:nvSpPr>
        <p:spPr>
          <a:xfrm>
            <a:off x="5990888" y="2179636"/>
            <a:ext cx="4754880" cy="3698045"/>
          </a:xfrm>
        </p:spPr>
        <p:txBody>
          <a:bodyPr>
            <a:noAutofit/>
          </a:bodyPr>
          <a:lstStyle/>
          <a:p>
            <a:pPr marL="361950" indent="-361950">
              <a:lnSpc>
                <a:spcPct val="100000"/>
              </a:lnSpc>
              <a:spcBef>
                <a:spcPts val="0"/>
              </a:spcBef>
              <a:spcAft>
                <a:spcPts val="0"/>
              </a:spcAft>
              <a:buFont typeface="Wingdings" panose="05000000000000000000" pitchFamily="2" charset="2"/>
              <a:buChar char="§"/>
            </a:pPr>
            <a:r>
              <a:rPr lang="en-GB" sz="1600" b="1"/>
              <a:t>Establish an ELR Policy: </a:t>
            </a:r>
            <a:r>
              <a:rPr lang="en-GB" sz="1600"/>
              <a:t>Implement a strict, formalised Economic Limit of Repair framework to guide estate capital decisions</a:t>
            </a:r>
          </a:p>
          <a:p>
            <a:pPr marL="361950" indent="-361950">
              <a:lnSpc>
                <a:spcPct val="100000"/>
              </a:lnSpc>
              <a:spcBef>
                <a:spcPts val="0"/>
              </a:spcBef>
              <a:spcAft>
                <a:spcPts val="0"/>
              </a:spcAft>
              <a:buFont typeface="Wingdings" panose="05000000000000000000" pitchFamily="2" charset="2"/>
              <a:buChar char="§"/>
            </a:pPr>
            <a:endParaRPr lang="en-GB" sz="1600" b="1"/>
          </a:p>
          <a:p>
            <a:pPr marL="361950" indent="-361950">
              <a:lnSpc>
                <a:spcPct val="100000"/>
              </a:lnSpc>
              <a:spcBef>
                <a:spcPts val="0"/>
              </a:spcBef>
              <a:spcAft>
                <a:spcPts val="0"/>
              </a:spcAft>
              <a:buFont typeface="Wingdings" panose="05000000000000000000" pitchFamily="2" charset="2"/>
              <a:buChar char="§"/>
            </a:pPr>
            <a:r>
              <a:rPr lang="en-GB" sz="1600" b="1"/>
              <a:t>Asset-Level Cost Monitoring: </a:t>
            </a:r>
            <a:r>
              <a:rPr lang="en-GB" sz="1600"/>
              <a:t>Transition fleet financial oversight to a centralised ledger managed by the Finance Committee to track real-time utilisation alongside rolling repair thresholds.</a:t>
            </a:r>
          </a:p>
          <a:p>
            <a:pPr marL="361950" indent="-361950">
              <a:lnSpc>
                <a:spcPct val="100000"/>
              </a:lnSpc>
              <a:spcBef>
                <a:spcPts val="0"/>
              </a:spcBef>
              <a:spcAft>
                <a:spcPts val="0"/>
              </a:spcAft>
              <a:buFont typeface="Wingdings" panose="05000000000000000000" pitchFamily="2" charset="2"/>
              <a:buChar char="§"/>
            </a:pPr>
            <a:endParaRPr lang="en-GB" sz="1600" b="1"/>
          </a:p>
          <a:p>
            <a:pPr marL="361950" indent="-361950">
              <a:lnSpc>
                <a:spcPct val="100000"/>
              </a:lnSpc>
              <a:spcBef>
                <a:spcPts val="0"/>
              </a:spcBef>
              <a:spcAft>
                <a:spcPts val="0"/>
              </a:spcAft>
              <a:buFont typeface="Wingdings" panose="05000000000000000000" pitchFamily="2" charset="2"/>
              <a:buChar char="§"/>
            </a:pPr>
            <a:r>
              <a:rPr lang="en-GB" sz="1600" b="1"/>
              <a:t>The 30% Single Estimate Rule: </a:t>
            </a:r>
            <a:r>
              <a:rPr lang="en-GB" sz="1600"/>
              <a:t>Automatically red-flag, halt, and review any single repair quote that exceeds 30% of the tractor's current market value</a:t>
            </a:r>
          </a:p>
          <a:p>
            <a:pPr marL="361950" indent="-361950">
              <a:lnSpc>
                <a:spcPct val="100000"/>
              </a:lnSpc>
              <a:spcBef>
                <a:spcPts val="0"/>
              </a:spcBef>
              <a:spcAft>
                <a:spcPts val="0"/>
              </a:spcAft>
              <a:buFont typeface="Wingdings" panose="05000000000000000000" pitchFamily="2" charset="2"/>
              <a:buChar char="§"/>
            </a:pPr>
            <a:endParaRPr lang="en-GB" sz="1600" b="1"/>
          </a:p>
          <a:p>
            <a:pPr marL="361950" indent="-361950">
              <a:lnSpc>
                <a:spcPct val="100000"/>
              </a:lnSpc>
              <a:spcBef>
                <a:spcPts val="0"/>
              </a:spcBef>
              <a:spcAft>
                <a:spcPts val="0"/>
              </a:spcAft>
              <a:buFont typeface="Wingdings" panose="05000000000000000000" pitchFamily="2" charset="2"/>
              <a:buChar char="§"/>
            </a:pPr>
            <a:r>
              <a:rPr lang="en-GB" sz="1600" b="1"/>
              <a:t>The 50% Cumulative Rule: </a:t>
            </a:r>
            <a:r>
              <a:rPr lang="en-GB" sz="1600"/>
              <a:t>If the cumulative maintenance spend over any rolling 24-month window exceeds 50% of the asset's market value, stop repairs and route the tractor for immediate trade-in or disposal</a:t>
            </a:r>
          </a:p>
        </p:txBody>
      </p:sp>
      <p:sp>
        <p:nvSpPr>
          <p:cNvPr id="3" name="Content Placeholder 2">
            <a:extLst>
              <a:ext uri="{FF2B5EF4-FFF2-40B4-BE49-F238E27FC236}">
                <a16:creationId xmlns:a16="http://schemas.microsoft.com/office/drawing/2014/main" id="{3CE66D0E-52B8-BC11-9D46-0A4C1400C9AB}"/>
              </a:ext>
            </a:extLst>
          </p:cNvPr>
          <p:cNvSpPr>
            <a:spLocks noGrp="1"/>
          </p:cNvSpPr>
          <p:nvPr>
            <p:ph sz="half" idx="2"/>
          </p:nvPr>
        </p:nvSpPr>
        <p:spPr>
          <a:xfrm>
            <a:off x="1024128" y="2179636"/>
            <a:ext cx="4754880" cy="4256675"/>
          </a:xfrm>
        </p:spPr>
        <p:txBody>
          <a:bodyPr>
            <a:normAutofit/>
          </a:bodyPr>
          <a:lstStyle/>
          <a:p>
            <a:pPr marL="354013" indent="-354013">
              <a:lnSpc>
                <a:spcPct val="110000"/>
              </a:lnSpc>
              <a:spcAft>
                <a:spcPts val="0"/>
              </a:spcAft>
              <a:buFont typeface="Wingdings" panose="05000000000000000000" pitchFamily="2" charset="2"/>
              <a:buChar char="§"/>
            </a:pPr>
            <a:r>
              <a:rPr lang="en-GB" sz="1400" b="1"/>
              <a:t>Evidence and Impact:</a:t>
            </a:r>
            <a:r>
              <a:rPr lang="en-GB" sz="1400"/>
              <a:t> </a:t>
            </a:r>
          </a:p>
          <a:p>
            <a:pPr marL="527749" lvl="1" indent="-354013">
              <a:lnSpc>
                <a:spcPct val="110000"/>
              </a:lnSpc>
              <a:spcAft>
                <a:spcPts val="0"/>
              </a:spcAft>
              <a:buFont typeface="Wingdings" panose="05000000000000000000" pitchFamily="2" charset="2"/>
              <a:buChar char="§"/>
            </a:pPr>
            <a:r>
              <a:rPr lang="en-GB" sz="1400" b="1"/>
              <a:t>Financial Drain: </a:t>
            </a:r>
            <a:r>
              <a:rPr lang="en-GB" sz="1400"/>
              <a:t>Cumulative asset maintenance spend has exceeded ZAR 500k on a machine with an estimated market value of ZAR 200k</a:t>
            </a:r>
          </a:p>
          <a:p>
            <a:pPr marL="527749" lvl="1" indent="-354013">
              <a:lnSpc>
                <a:spcPct val="110000"/>
              </a:lnSpc>
              <a:spcAft>
                <a:spcPts val="0"/>
              </a:spcAft>
              <a:buFont typeface="Wingdings" panose="05000000000000000000" pitchFamily="2" charset="2"/>
              <a:buChar char="§"/>
            </a:pPr>
            <a:r>
              <a:rPr lang="en-GB" sz="1400" b="1"/>
              <a:t>Asset Management Failure: </a:t>
            </a:r>
            <a:r>
              <a:rPr lang="en-GB" sz="1400"/>
              <a:t>The tractor was permitted to continually drain estate capital because each maintenance invoice was evaluated as an isolated event rather than a compounding, cumulative total.</a:t>
            </a:r>
          </a:p>
          <a:p>
            <a:pPr marL="354013" indent="-354013">
              <a:lnSpc>
                <a:spcPct val="110000"/>
              </a:lnSpc>
              <a:spcAft>
                <a:spcPts val="0"/>
              </a:spcAft>
              <a:buFont typeface="Wingdings" panose="05000000000000000000" pitchFamily="2" charset="2"/>
              <a:buChar char="§"/>
            </a:pPr>
            <a:r>
              <a:rPr lang="en-GB" sz="1400" b="1"/>
              <a:t>Likely Root Cause</a:t>
            </a:r>
          </a:p>
          <a:p>
            <a:pPr marL="527749" lvl="1" indent="-354013">
              <a:lnSpc>
                <a:spcPct val="110000"/>
              </a:lnSpc>
              <a:spcAft>
                <a:spcPts val="0"/>
              </a:spcAft>
              <a:buFont typeface="Wingdings" panose="05000000000000000000" pitchFamily="2" charset="2"/>
              <a:buChar char="§"/>
            </a:pPr>
            <a:r>
              <a:rPr lang="en-GB" sz="1400" b="1"/>
              <a:t>Policy Deficit:</a:t>
            </a:r>
            <a:r>
              <a:rPr lang="en-GB" sz="1400"/>
              <a:t> The estate lacked a formalised asset retention policy, financial cap structure, or lifecycle threshold to flag when a machine has structurally and economically expired</a:t>
            </a:r>
          </a:p>
          <a:p>
            <a:pPr marL="527749" lvl="1" indent="-354013">
              <a:lnSpc>
                <a:spcPct val="110000"/>
              </a:lnSpc>
              <a:spcAft>
                <a:spcPts val="0"/>
              </a:spcAft>
              <a:buFont typeface="Wingdings" panose="05000000000000000000" pitchFamily="2" charset="2"/>
              <a:buChar char="§"/>
            </a:pPr>
            <a:r>
              <a:rPr lang="en-GB" sz="1400" b="1"/>
              <a:t>Siloed Fleet Supervision: </a:t>
            </a:r>
            <a:r>
              <a:rPr lang="en-GB" sz="1400"/>
              <a:t>Management authorised major technical repairs as separate, isolated events due to an absence of an aggregated lifecycle expenditure tracker</a:t>
            </a:r>
          </a:p>
        </p:txBody>
      </p:sp>
      <p:sp>
        <p:nvSpPr>
          <p:cNvPr id="6" name="Title 5">
            <a:extLst>
              <a:ext uri="{FF2B5EF4-FFF2-40B4-BE49-F238E27FC236}">
                <a16:creationId xmlns:a16="http://schemas.microsoft.com/office/drawing/2014/main" id="{3187DCD4-107F-5156-AD43-5E912C8CE7A0}"/>
              </a:ext>
            </a:extLst>
          </p:cNvPr>
          <p:cNvSpPr>
            <a:spLocks noGrp="1"/>
          </p:cNvSpPr>
          <p:nvPr>
            <p:ph type="title"/>
          </p:nvPr>
        </p:nvSpPr>
        <p:spPr/>
        <p:txBody>
          <a:bodyPr>
            <a:normAutofit fontScale="90000"/>
          </a:bodyPr>
          <a:lstStyle/>
          <a:p>
            <a:r>
              <a:rPr lang="en-GB"/>
              <a:t>Absence of an Economic Limit of Repair Policy</a:t>
            </a:r>
          </a:p>
        </p:txBody>
      </p:sp>
      <p:sp>
        <p:nvSpPr>
          <p:cNvPr id="7" name="Text Placeholder 6">
            <a:extLst>
              <a:ext uri="{FF2B5EF4-FFF2-40B4-BE49-F238E27FC236}">
                <a16:creationId xmlns:a16="http://schemas.microsoft.com/office/drawing/2014/main" id="{B1B7C8AA-EBFF-21C5-5CCD-67802260B13B}"/>
              </a:ext>
            </a:extLst>
          </p:cNvPr>
          <p:cNvSpPr>
            <a:spLocks noGrp="1"/>
          </p:cNvSpPr>
          <p:nvPr>
            <p:ph type="body" sz="quarter" idx="13"/>
          </p:nvPr>
        </p:nvSpPr>
        <p:spPr/>
        <p:txBody>
          <a:bodyPr/>
          <a:lstStyle/>
          <a:p>
            <a:r>
              <a:rPr lang="en-GB"/>
              <a:t>Root cause analysis</a:t>
            </a:r>
          </a:p>
        </p:txBody>
      </p:sp>
    </p:spTree>
    <p:extLst>
      <p:ext uri="{BB962C8B-B14F-4D97-AF65-F5344CB8AC3E}">
        <p14:creationId xmlns:p14="http://schemas.microsoft.com/office/powerpoint/2010/main" val="2005196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26CD257-0AC3-5C2C-832F-1F6BA40F26F7}"/>
              </a:ext>
            </a:extLst>
          </p:cNvPr>
          <p:cNvSpPr>
            <a:spLocks noGrp="1"/>
          </p:cNvSpPr>
          <p:nvPr>
            <p:ph type="title"/>
          </p:nvPr>
        </p:nvSpPr>
        <p:spPr/>
        <p:txBody>
          <a:bodyPr>
            <a:normAutofit fontScale="90000"/>
          </a:bodyPr>
          <a:lstStyle/>
          <a:p>
            <a:r>
              <a:rPr lang="en-GB"/>
              <a:t>Proposed Next steps</a:t>
            </a:r>
          </a:p>
        </p:txBody>
      </p:sp>
      <p:graphicFrame>
        <p:nvGraphicFramePr>
          <p:cNvPr id="11" name="Content Placeholder 10">
            <a:extLst>
              <a:ext uri="{FF2B5EF4-FFF2-40B4-BE49-F238E27FC236}">
                <a16:creationId xmlns:a16="http://schemas.microsoft.com/office/drawing/2014/main" id="{FC4CC494-0ED3-5DCA-F774-20F890A8D89E}"/>
              </a:ext>
            </a:extLst>
          </p:cNvPr>
          <p:cNvGraphicFramePr>
            <a:graphicFrameLocks noGrp="1"/>
          </p:cNvGraphicFramePr>
          <p:nvPr>
            <p:ph idx="1"/>
            <p:extLst>
              <p:ext uri="{D42A27DB-BD31-4B8C-83A1-F6EECF244321}">
                <p14:modId xmlns:p14="http://schemas.microsoft.com/office/powerpoint/2010/main" val="126798591"/>
              </p:ext>
            </p:extLst>
          </p:nvPr>
        </p:nvGraphicFramePr>
        <p:xfrm>
          <a:off x="1024128" y="1448555"/>
          <a:ext cx="9720073" cy="503372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68922079"/>
      </p:ext>
    </p:extLst>
  </p:cSld>
  <p:clrMapOvr>
    <a:masterClrMapping/>
  </p:clrMapOvr>
</p:sld>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Integral">
  <a:themeElements>
    <a:clrScheme name="Integral">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B9F25"/>
      </a:hlink>
      <a:folHlink>
        <a:srgbClr val="B26B02"/>
      </a:folHlink>
    </a:clrScheme>
    <a:fontScheme name="Integral">
      <a:majorFont>
        <a:latin typeface="Tw Cen MT Condensed" panose="020B06060201040202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6020201040206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Integral" id="{3577F8C9-A904-41D8-97D2-FD898F53F20E}" vid="{682D6EBE-8D36-4FF2-9DB3-F3D8D7B6715D}"/>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0</TotalTime>
  <Words>1483</Words>
  <Application>Microsoft Office PowerPoint</Application>
  <PresentationFormat>Widescreen</PresentationFormat>
  <Paragraphs>127</Paragraphs>
  <Slides>8</Slides>
  <Notes>0</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8</vt:i4>
      </vt:variant>
    </vt:vector>
  </HeadingPairs>
  <TitlesOfParts>
    <vt:vector size="17" baseType="lpstr">
      <vt:lpstr>Aptos</vt:lpstr>
      <vt:lpstr>Arial</vt:lpstr>
      <vt:lpstr>Trebuchet MS</vt:lpstr>
      <vt:lpstr>Tw Cen MT</vt:lpstr>
      <vt:lpstr>Tw Cen MT Condensed</vt:lpstr>
      <vt:lpstr>Wingdings</vt:lpstr>
      <vt:lpstr>Wingdings 3</vt:lpstr>
      <vt:lpstr>Facet</vt:lpstr>
      <vt:lpstr>Integral</vt:lpstr>
      <vt:lpstr>Cathkin estates Tractor Expenditure root cause analysis</vt:lpstr>
      <vt:lpstr>Tractor expenditure: actual vs. industry standard</vt:lpstr>
      <vt:lpstr>Tractor expenditure: actual vs. industry standard</vt:lpstr>
      <vt:lpstr>Root cause analysis</vt:lpstr>
      <vt:lpstr>Severe Operator Overloading or "Clutch Riding”</vt:lpstr>
      <vt:lpstr>Lack of thorough Daily Inspections &amp; Terrain Impact</vt:lpstr>
      <vt:lpstr>Absence of an Economic Limit of Repair Policy</vt:lpstr>
      <vt:lpstr>Proposed Next steps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Anita Haider</dc:creator>
  <cp:lastModifiedBy>Anita Haider</cp:lastModifiedBy>
  <cp:revision>1</cp:revision>
  <cp:lastPrinted>2026-06-25T10:53:36Z</cp:lastPrinted>
  <dcterms:created xsi:type="dcterms:W3CDTF">2026-04-06T14:08:53Z</dcterms:created>
  <dcterms:modified xsi:type="dcterms:W3CDTF">2026-09-03T07:30:28Z</dcterms:modified>
</cp:coreProperties>
</file>